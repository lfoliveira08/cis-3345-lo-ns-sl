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9" r:id="rId2"/>
    <p:sldId id="257" r:id="rId3"/>
    <p:sldId id="258" r:id="rId4"/>
    <p:sldId id="259" r:id="rId5"/>
    <p:sldId id="260" r:id="rId6"/>
    <p:sldId id="261" r:id="rId7"/>
    <p:sldId id="262" r:id="rId8"/>
    <p:sldId id="263" r:id="rId9"/>
    <p:sldId id="264" r:id="rId10"/>
    <p:sldId id="265" r:id="rId11"/>
    <p:sldId id="266"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8" autoAdjust="0"/>
    <p:restoredTop sz="67843" autoAdjust="0"/>
  </p:normalViewPr>
  <p:slideViewPr>
    <p:cSldViewPr snapToGrid="0">
      <p:cViewPr varScale="1">
        <p:scale>
          <a:sx n="56" d="100"/>
          <a:sy n="56" d="100"/>
        </p:scale>
        <p:origin x="1718"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A91C19-92F3-4C87-A764-DB51EA18B220}"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2CA7A586-6646-450A-8AFB-E0F727BBFEB2}">
      <dgm:prSet/>
      <dgm:spPr/>
      <dgm:t>
        <a:bodyPr/>
        <a:lstStyle/>
        <a:p>
          <a:r>
            <a:rPr lang="en-US"/>
            <a:t>Milestone 1:Chat Application Artifacts (Discord &amp; Steam).</a:t>
          </a:r>
        </a:p>
      </dgm:t>
    </dgm:pt>
    <dgm:pt modelId="{E9C44780-D8EB-4F21-B740-D5BDCB94FC55}" type="parTrans" cxnId="{DD8CBC38-26E7-4C56-9EB2-1D3972B26A7D}">
      <dgm:prSet/>
      <dgm:spPr/>
      <dgm:t>
        <a:bodyPr/>
        <a:lstStyle/>
        <a:p>
          <a:endParaRPr lang="en-US"/>
        </a:p>
      </dgm:t>
    </dgm:pt>
    <dgm:pt modelId="{2EA89DB5-3142-404F-8F10-FB52E51BFE67}" type="sibTrans" cxnId="{DD8CBC38-26E7-4C56-9EB2-1D3972B26A7D}">
      <dgm:prSet/>
      <dgm:spPr/>
      <dgm:t>
        <a:bodyPr/>
        <a:lstStyle/>
        <a:p>
          <a:endParaRPr lang="en-US"/>
        </a:p>
      </dgm:t>
    </dgm:pt>
    <dgm:pt modelId="{0F6146A9-C0B5-4BF2-A89D-DC6835BA05BA}">
      <dgm:prSet/>
      <dgm:spPr/>
      <dgm:t>
        <a:bodyPr/>
        <a:lstStyle/>
        <a:p>
          <a:r>
            <a:rPr lang="en-US"/>
            <a:t>User Story: Recover messages containing insults/threats to Jane Doe.</a:t>
          </a:r>
        </a:p>
      </dgm:t>
    </dgm:pt>
    <dgm:pt modelId="{0409F698-798B-4340-9F45-E7AC4E1E1171}" type="parTrans" cxnId="{4B671FE3-546D-4B19-B0D8-E235C2D05976}">
      <dgm:prSet/>
      <dgm:spPr/>
      <dgm:t>
        <a:bodyPr/>
        <a:lstStyle/>
        <a:p>
          <a:endParaRPr lang="en-US"/>
        </a:p>
      </dgm:t>
    </dgm:pt>
    <dgm:pt modelId="{1BFACA69-64F1-4C8A-9783-065F1B75EFED}" type="sibTrans" cxnId="{4B671FE3-546D-4B19-B0D8-E235C2D05976}">
      <dgm:prSet/>
      <dgm:spPr/>
      <dgm:t>
        <a:bodyPr/>
        <a:lstStyle/>
        <a:p>
          <a:endParaRPr lang="en-US"/>
        </a:p>
      </dgm:t>
    </dgm:pt>
    <dgm:pt modelId="{63E46E20-2706-4A5C-8225-019E39CE48EB}">
      <dgm:prSet/>
      <dgm:spPr/>
      <dgm:t>
        <a:bodyPr/>
        <a:lstStyle/>
        <a:p>
          <a:r>
            <a:rPr lang="en-US"/>
            <a:t>User Story: Identify communications related to harassment on gaming platforms.</a:t>
          </a:r>
        </a:p>
      </dgm:t>
    </dgm:pt>
    <dgm:pt modelId="{0F3E179D-4997-4040-B055-D88357FF298F}" type="parTrans" cxnId="{C68FFFFF-0BAE-4598-B2A7-E7132A9A78F0}">
      <dgm:prSet/>
      <dgm:spPr/>
      <dgm:t>
        <a:bodyPr/>
        <a:lstStyle/>
        <a:p>
          <a:endParaRPr lang="en-US"/>
        </a:p>
      </dgm:t>
    </dgm:pt>
    <dgm:pt modelId="{1ED2AD81-7583-43C4-B51B-CA8B44CA9070}" type="sibTrans" cxnId="{C68FFFFF-0BAE-4598-B2A7-E7132A9A78F0}">
      <dgm:prSet/>
      <dgm:spPr/>
      <dgm:t>
        <a:bodyPr/>
        <a:lstStyle/>
        <a:p>
          <a:endParaRPr lang="en-US"/>
        </a:p>
      </dgm:t>
    </dgm:pt>
    <dgm:pt modelId="{E70C901A-B19F-4701-BBB4-4D4774FD521B}">
      <dgm:prSet/>
      <dgm:spPr/>
      <dgm:t>
        <a:bodyPr/>
        <a:lstStyle/>
        <a:p>
          <a:r>
            <a:rPr lang="en-US"/>
            <a:t>Milestone 2: Video Artifacts (Recovery &amp; Metadata).</a:t>
          </a:r>
        </a:p>
      </dgm:t>
    </dgm:pt>
    <dgm:pt modelId="{590CD31E-999E-43A2-AAB0-7F6F98E7932D}" type="parTrans" cxnId="{62EFE643-B29D-48A7-9A3F-DA52485E57FB}">
      <dgm:prSet/>
      <dgm:spPr/>
      <dgm:t>
        <a:bodyPr/>
        <a:lstStyle/>
        <a:p>
          <a:endParaRPr lang="en-US"/>
        </a:p>
      </dgm:t>
    </dgm:pt>
    <dgm:pt modelId="{E69E0781-C428-454D-8904-5D5A33BC58BB}" type="sibTrans" cxnId="{62EFE643-B29D-48A7-9A3F-DA52485E57FB}">
      <dgm:prSet/>
      <dgm:spPr/>
      <dgm:t>
        <a:bodyPr/>
        <a:lstStyle/>
        <a:p>
          <a:endParaRPr lang="en-US"/>
        </a:p>
      </dgm:t>
    </dgm:pt>
    <dgm:pt modelId="{68CE626B-D4B7-4DF7-8106-EF757DA4E18A}">
      <dgm:prSet/>
      <dgm:spPr/>
      <dgm:t>
        <a:bodyPr/>
        <a:lstStyle/>
        <a:p>
          <a:r>
            <a:rPr lang="en-US"/>
            <a:t>User Story: Locate the "meme" video file deleted from the hard drive.</a:t>
          </a:r>
        </a:p>
      </dgm:t>
    </dgm:pt>
    <dgm:pt modelId="{59BD7FEC-EA8A-4261-9691-880743FDA9C9}" type="parTrans" cxnId="{4F644875-0C86-4672-8B5F-3E7C7FE926BD}">
      <dgm:prSet/>
      <dgm:spPr/>
      <dgm:t>
        <a:bodyPr/>
        <a:lstStyle/>
        <a:p>
          <a:endParaRPr lang="en-US"/>
        </a:p>
      </dgm:t>
    </dgm:pt>
    <dgm:pt modelId="{321EE29C-C5C7-4C0F-87BB-70CCA3ACE11F}" type="sibTrans" cxnId="{4F644875-0C86-4672-8B5F-3E7C7FE926BD}">
      <dgm:prSet/>
      <dgm:spPr/>
      <dgm:t>
        <a:bodyPr/>
        <a:lstStyle/>
        <a:p>
          <a:endParaRPr lang="en-US"/>
        </a:p>
      </dgm:t>
    </dgm:pt>
    <dgm:pt modelId="{5253678F-ED33-4A08-916F-A483F1C5254C}">
      <dgm:prSet/>
      <dgm:spPr/>
      <dgm:t>
        <a:bodyPr/>
        <a:lstStyle/>
        <a:p>
          <a:r>
            <a:rPr lang="en-US"/>
            <a:t>User Story: Prove the video was created/edited on </a:t>
          </a:r>
          <a:r>
            <a:rPr lang="en-US" i="1"/>
            <a:t>this</a:t>
          </a:r>
          <a:r>
            <a:rPr lang="en-US"/>
            <a:t> machine.</a:t>
          </a:r>
        </a:p>
      </dgm:t>
    </dgm:pt>
    <dgm:pt modelId="{D657EFC3-63B5-4185-BC61-4F8866C83D6A}" type="parTrans" cxnId="{FEE0AE9D-A87F-4367-871B-1916F16FB12D}">
      <dgm:prSet/>
      <dgm:spPr/>
      <dgm:t>
        <a:bodyPr/>
        <a:lstStyle/>
        <a:p>
          <a:endParaRPr lang="en-US"/>
        </a:p>
      </dgm:t>
    </dgm:pt>
    <dgm:pt modelId="{8A50DA1E-5C40-4BBB-BF4A-ED8E86DE44F7}" type="sibTrans" cxnId="{FEE0AE9D-A87F-4367-871B-1916F16FB12D}">
      <dgm:prSet/>
      <dgm:spPr/>
      <dgm:t>
        <a:bodyPr/>
        <a:lstStyle/>
        <a:p>
          <a:endParaRPr lang="en-US"/>
        </a:p>
      </dgm:t>
    </dgm:pt>
    <dgm:pt modelId="{10F13919-F0C2-4E6A-914D-EB8C24FF0B0F}">
      <dgm:prSet/>
      <dgm:spPr/>
      <dgm:t>
        <a:bodyPr/>
        <a:lstStyle/>
        <a:p>
          <a:r>
            <a:rPr lang="en-US"/>
            <a:t>Milestone 3: Browser History (Web Distribution).</a:t>
          </a:r>
        </a:p>
      </dgm:t>
    </dgm:pt>
    <dgm:pt modelId="{A3A45270-4CDA-44F7-A1FB-B95D4453C78E}" type="parTrans" cxnId="{AD023DE5-3E0A-4DBC-BBC6-F19459FB7385}">
      <dgm:prSet/>
      <dgm:spPr/>
      <dgm:t>
        <a:bodyPr/>
        <a:lstStyle/>
        <a:p>
          <a:endParaRPr lang="en-US"/>
        </a:p>
      </dgm:t>
    </dgm:pt>
    <dgm:pt modelId="{EEC4F9BA-CB84-4CD4-816E-E769EC74D01B}" type="sibTrans" cxnId="{AD023DE5-3E0A-4DBC-BBC6-F19459FB7385}">
      <dgm:prSet/>
      <dgm:spPr/>
      <dgm:t>
        <a:bodyPr/>
        <a:lstStyle/>
        <a:p>
          <a:endParaRPr lang="en-US"/>
        </a:p>
      </dgm:t>
    </dgm:pt>
    <dgm:pt modelId="{6AB13E99-B90F-48A1-8107-F35226A49132}">
      <dgm:prSet/>
      <dgm:spPr/>
      <dgm:t>
        <a:bodyPr/>
        <a:lstStyle/>
        <a:p>
          <a:r>
            <a:rPr lang="en-US"/>
            <a:t>User Story: Did the suspect upload the video online?</a:t>
          </a:r>
        </a:p>
      </dgm:t>
    </dgm:pt>
    <dgm:pt modelId="{A1A7012A-F98B-4F02-9D56-4F91E010980B}" type="parTrans" cxnId="{DB18003B-9CF0-4B4C-B858-1FCE70AF3983}">
      <dgm:prSet/>
      <dgm:spPr/>
      <dgm:t>
        <a:bodyPr/>
        <a:lstStyle/>
        <a:p>
          <a:endParaRPr lang="en-US"/>
        </a:p>
      </dgm:t>
    </dgm:pt>
    <dgm:pt modelId="{C2D9B471-0761-4083-8898-81D0C88C28D4}" type="sibTrans" cxnId="{DB18003B-9CF0-4B4C-B858-1FCE70AF3983}">
      <dgm:prSet/>
      <dgm:spPr/>
      <dgm:t>
        <a:bodyPr/>
        <a:lstStyle/>
        <a:p>
          <a:endParaRPr lang="en-US"/>
        </a:p>
      </dgm:t>
    </dgm:pt>
    <dgm:pt modelId="{DA8072CB-0B22-43D2-AF31-0BD78966624F}">
      <dgm:prSet/>
      <dgm:spPr/>
      <dgm:t>
        <a:bodyPr/>
        <a:lstStyle/>
        <a:p>
          <a:r>
            <a:rPr lang="en-US"/>
            <a:t>Milestone 4: USB Device History (Physical Exfiltration).</a:t>
          </a:r>
        </a:p>
      </dgm:t>
    </dgm:pt>
    <dgm:pt modelId="{8DA32025-2935-479C-8BA0-6BB89340E876}" type="parTrans" cxnId="{F69ECA3B-F3CD-4D33-927B-115F37610B05}">
      <dgm:prSet/>
      <dgm:spPr/>
      <dgm:t>
        <a:bodyPr/>
        <a:lstStyle/>
        <a:p>
          <a:endParaRPr lang="en-US"/>
        </a:p>
      </dgm:t>
    </dgm:pt>
    <dgm:pt modelId="{5F11F8C4-CF48-468B-B745-3A1E7F10A8D9}" type="sibTrans" cxnId="{F69ECA3B-F3CD-4D33-927B-115F37610B05}">
      <dgm:prSet/>
      <dgm:spPr/>
      <dgm:t>
        <a:bodyPr/>
        <a:lstStyle/>
        <a:p>
          <a:endParaRPr lang="en-US"/>
        </a:p>
      </dgm:t>
    </dgm:pt>
    <dgm:pt modelId="{0849D165-00B2-449C-A81B-3AB46A7959E4}">
      <dgm:prSet/>
      <dgm:spPr/>
      <dgm:t>
        <a:bodyPr/>
        <a:lstStyle/>
        <a:p>
          <a:r>
            <a:rPr lang="en-US"/>
            <a:t>User Story: Was the video transferred to an external drive?</a:t>
          </a:r>
        </a:p>
      </dgm:t>
    </dgm:pt>
    <dgm:pt modelId="{DEA61201-13B6-4870-92DF-58721B86F9B4}" type="parTrans" cxnId="{454D8DBE-73DF-449D-AD0A-449440BD0F02}">
      <dgm:prSet/>
      <dgm:spPr/>
      <dgm:t>
        <a:bodyPr/>
        <a:lstStyle/>
        <a:p>
          <a:endParaRPr lang="en-US"/>
        </a:p>
      </dgm:t>
    </dgm:pt>
    <dgm:pt modelId="{8FA15018-0B0D-4E01-8F9D-BE24BC279001}" type="sibTrans" cxnId="{454D8DBE-73DF-449D-AD0A-449440BD0F02}">
      <dgm:prSet/>
      <dgm:spPr/>
      <dgm:t>
        <a:bodyPr/>
        <a:lstStyle/>
        <a:p>
          <a:endParaRPr lang="en-US"/>
        </a:p>
      </dgm:t>
    </dgm:pt>
    <dgm:pt modelId="{666E3489-1E68-4D1D-A272-573A8C3C5092}">
      <dgm:prSet/>
      <dgm:spPr/>
      <dgm:t>
        <a:bodyPr/>
        <a:lstStyle/>
        <a:p>
          <a:r>
            <a:rPr lang="en-US"/>
            <a:t>Milestone 5: Case Management (Timeline &amp; Final Report).</a:t>
          </a:r>
        </a:p>
      </dgm:t>
    </dgm:pt>
    <dgm:pt modelId="{AFDFF59C-71D0-4817-8CB6-6E5B210B2F2C}" type="parTrans" cxnId="{D7DD6A64-CC96-4D42-8911-B9F5478C7837}">
      <dgm:prSet/>
      <dgm:spPr/>
      <dgm:t>
        <a:bodyPr/>
        <a:lstStyle/>
        <a:p>
          <a:endParaRPr lang="en-US"/>
        </a:p>
      </dgm:t>
    </dgm:pt>
    <dgm:pt modelId="{C931361E-3240-4C3D-9ABC-227CB795D8AA}" type="sibTrans" cxnId="{D7DD6A64-CC96-4D42-8911-B9F5478C7837}">
      <dgm:prSet/>
      <dgm:spPr/>
      <dgm:t>
        <a:bodyPr/>
        <a:lstStyle/>
        <a:p>
          <a:endParaRPr lang="en-US"/>
        </a:p>
      </dgm:t>
    </dgm:pt>
    <dgm:pt modelId="{4551331E-8267-48E5-9D27-DD58FEEBFBDF}">
      <dgm:prSet/>
      <dgm:spPr/>
      <dgm:t>
        <a:bodyPr/>
        <a:lstStyle/>
        <a:p>
          <a:r>
            <a:rPr lang="en-US"/>
            <a:t>User Story: Correlate all artifacts into a single narrative.</a:t>
          </a:r>
        </a:p>
      </dgm:t>
    </dgm:pt>
    <dgm:pt modelId="{EDC666C8-D2A6-46D9-A798-A7322DB0036A}" type="parTrans" cxnId="{68F7DBE1-D730-458A-A323-DE2C59C3067E}">
      <dgm:prSet/>
      <dgm:spPr/>
      <dgm:t>
        <a:bodyPr/>
        <a:lstStyle/>
        <a:p>
          <a:endParaRPr lang="en-US"/>
        </a:p>
      </dgm:t>
    </dgm:pt>
    <dgm:pt modelId="{F20D82B7-3FFF-4012-9507-C876C19525A1}" type="sibTrans" cxnId="{68F7DBE1-D730-458A-A323-DE2C59C3067E}">
      <dgm:prSet/>
      <dgm:spPr/>
      <dgm:t>
        <a:bodyPr/>
        <a:lstStyle/>
        <a:p>
          <a:endParaRPr lang="en-US"/>
        </a:p>
      </dgm:t>
    </dgm:pt>
    <dgm:pt modelId="{80E0F8AF-1780-48FC-A373-EA7DF486C7DC}">
      <dgm:prSet/>
      <dgm:spPr/>
      <dgm:t>
        <a:bodyPr/>
        <a:lstStyle/>
        <a:p>
          <a:r>
            <a:rPr lang="en-US"/>
            <a:t>User Story: Produce a professional legal conclusion.</a:t>
          </a:r>
        </a:p>
      </dgm:t>
    </dgm:pt>
    <dgm:pt modelId="{488F1103-598F-46CF-949C-F1557287C410}" type="parTrans" cxnId="{F5E544A9-1D25-4926-A660-9CA690629B9E}">
      <dgm:prSet/>
      <dgm:spPr/>
      <dgm:t>
        <a:bodyPr/>
        <a:lstStyle/>
        <a:p>
          <a:endParaRPr lang="en-US"/>
        </a:p>
      </dgm:t>
    </dgm:pt>
    <dgm:pt modelId="{31793B69-4E3C-4ABB-918C-D023461B8695}" type="sibTrans" cxnId="{F5E544A9-1D25-4926-A660-9CA690629B9E}">
      <dgm:prSet/>
      <dgm:spPr/>
      <dgm:t>
        <a:bodyPr/>
        <a:lstStyle/>
        <a:p>
          <a:endParaRPr lang="en-US"/>
        </a:p>
      </dgm:t>
    </dgm:pt>
    <dgm:pt modelId="{BF354418-EF89-4D1F-8E1C-6835AA16D286}" type="pres">
      <dgm:prSet presAssocID="{A2A91C19-92F3-4C87-A764-DB51EA18B220}" presName="Name0" presStyleCnt="0">
        <dgm:presLayoutVars>
          <dgm:dir/>
          <dgm:animLvl val="lvl"/>
          <dgm:resizeHandles val="exact"/>
        </dgm:presLayoutVars>
      </dgm:prSet>
      <dgm:spPr/>
    </dgm:pt>
    <dgm:pt modelId="{60B03192-AE8E-4DC0-A932-9ACCF8E89F1D}" type="pres">
      <dgm:prSet presAssocID="{2CA7A586-6646-450A-8AFB-E0F727BBFEB2}" presName="linNode" presStyleCnt="0"/>
      <dgm:spPr/>
    </dgm:pt>
    <dgm:pt modelId="{383FBF31-63A8-4FA8-8BD0-70D26CCF0AC8}" type="pres">
      <dgm:prSet presAssocID="{2CA7A586-6646-450A-8AFB-E0F727BBFEB2}" presName="parentText" presStyleLbl="node1" presStyleIdx="0" presStyleCnt="5">
        <dgm:presLayoutVars>
          <dgm:chMax val="1"/>
          <dgm:bulletEnabled val="1"/>
        </dgm:presLayoutVars>
      </dgm:prSet>
      <dgm:spPr/>
    </dgm:pt>
    <dgm:pt modelId="{F20C0F5D-29AF-4219-A2A4-4173B8EC0FA5}" type="pres">
      <dgm:prSet presAssocID="{2CA7A586-6646-450A-8AFB-E0F727BBFEB2}" presName="descendantText" presStyleLbl="alignAccFollowNode1" presStyleIdx="0" presStyleCnt="5">
        <dgm:presLayoutVars>
          <dgm:bulletEnabled val="1"/>
        </dgm:presLayoutVars>
      </dgm:prSet>
      <dgm:spPr/>
    </dgm:pt>
    <dgm:pt modelId="{C94144D2-5C2D-4557-A315-51F35F9045C3}" type="pres">
      <dgm:prSet presAssocID="{2EA89DB5-3142-404F-8F10-FB52E51BFE67}" presName="sp" presStyleCnt="0"/>
      <dgm:spPr/>
    </dgm:pt>
    <dgm:pt modelId="{6ED668BC-09D1-4432-BE15-507E2A38B246}" type="pres">
      <dgm:prSet presAssocID="{E70C901A-B19F-4701-BBB4-4D4774FD521B}" presName="linNode" presStyleCnt="0"/>
      <dgm:spPr/>
    </dgm:pt>
    <dgm:pt modelId="{D9EA1C16-BA20-4843-8D1E-53ECD44D1726}" type="pres">
      <dgm:prSet presAssocID="{E70C901A-B19F-4701-BBB4-4D4774FD521B}" presName="parentText" presStyleLbl="node1" presStyleIdx="1" presStyleCnt="5">
        <dgm:presLayoutVars>
          <dgm:chMax val="1"/>
          <dgm:bulletEnabled val="1"/>
        </dgm:presLayoutVars>
      </dgm:prSet>
      <dgm:spPr/>
    </dgm:pt>
    <dgm:pt modelId="{48549644-5C24-4CE7-B956-4FB022FA3946}" type="pres">
      <dgm:prSet presAssocID="{E70C901A-B19F-4701-BBB4-4D4774FD521B}" presName="descendantText" presStyleLbl="alignAccFollowNode1" presStyleIdx="1" presStyleCnt="5">
        <dgm:presLayoutVars>
          <dgm:bulletEnabled val="1"/>
        </dgm:presLayoutVars>
      </dgm:prSet>
      <dgm:spPr/>
    </dgm:pt>
    <dgm:pt modelId="{02FEB498-0A87-4497-ABC0-FFE03477E1D9}" type="pres">
      <dgm:prSet presAssocID="{E69E0781-C428-454D-8904-5D5A33BC58BB}" presName="sp" presStyleCnt="0"/>
      <dgm:spPr/>
    </dgm:pt>
    <dgm:pt modelId="{D69557D6-1EA4-4740-9564-4DA1F48ABC17}" type="pres">
      <dgm:prSet presAssocID="{10F13919-F0C2-4E6A-914D-EB8C24FF0B0F}" presName="linNode" presStyleCnt="0"/>
      <dgm:spPr/>
    </dgm:pt>
    <dgm:pt modelId="{A573F762-0C83-4D40-BAAD-B9114E1B408B}" type="pres">
      <dgm:prSet presAssocID="{10F13919-F0C2-4E6A-914D-EB8C24FF0B0F}" presName="parentText" presStyleLbl="node1" presStyleIdx="2" presStyleCnt="5">
        <dgm:presLayoutVars>
          <dgm:chMax val="1"/>
          <dgm:bulletEnabled val="1"/>
        </dgm:presLayoutVars>
      </dgm:prSet>
      <dgm:spPr/>
    </dgm:pt>
    <dgm:pt modelId="{5DFB38EA-17DA-4426-BEBC-93FBF7BD6CFE}" type="pres">
      <dgm:prSet presAssocID="{10F13919-F0C2-4E6A-914D-EB8C24FF0B0F}" presName="descendantText" presStyleLbl="alignAccFollowNode1" presStyleIdx="2" presStyleCnt="5">
        <dgm:presLayoutVars>
          <dgm:bulletEnabled val="1"/>
        </dgm:presLayoutVars>
      </dgm:prSet>
      <dgm:spPr/>
    </dgm:pt>
    <dgm:pt modelId="{F2DDCB71-BEC6-428E-9DEC-5B05AF3DD761}" type="pres">
      <dgm:prSet presAssocID="{EEC4F9BA-CB84-4CD4-816E-E769EC74D01B}" presName="sp" presStyleCnt="0"/>
      <dgm:spPr/>
    </dgm:pt>
    <dgm:pt modelId="{7626A8C2-EF0A-4A5B-972B-E61C9933AD10}" type="pres">
      <dgm:prSet presAssocID="{DA8072CB-0B22-43D2-AF31-0BD78966624F}" presName="linNode" presStyleCnt="0"/>
      <dgm:spPr/>
    </dgm:pt>
    <dgm:pt modelId="{A118BABA-B176-42BF-8F97-63B5EAEA6B55}" type="pres">
      <dgm:prSet presAssocID="{DA8072CB-0B22-43D2-AF31-0BD78966624F}" presName="parentText" presStyleLbl="node1" presStyleIdx="3" presStyleCnt="5">
        <dgm:presLayoutVars>
          <dgm:chMax val="1"/>
          <dgm:bulletEnabled val="1"/>
        </dgm:presLayoutVars>
      </dgm:prSet>
      <dgm:spPr/>
    </dgm:pt>
    <dgm:pt modelId="{3FE8D46E-1C7B-404B-80E6-03CF2D2898B7}" type="pres">
      <dgm:prSet presAssocID="{DA8072CB-0B22-43D2-AF31-0BD78966624F}" presName="descendantText" presStyleLbl="alignAccFollowNode1" presStyleIdx="3" presStyleCnt="5">
        <dgm:presLayoutVars>
          <dgm:bulletEnabled val="1"/>
        </dgm:presLayoutVars>
      </dgm:prSet>
      <dgm:spPr/>
    </dgm:pt>
    <dgm:pt modelId="{D8503378-E925-4091-A54F-7C3C6C29AB55}" type="pres">
      <dgm:prSet presAssocID="{5F11F8C4-CF48-468B-B745-3A1E7F10A8D9}" presName="sp" presStyleCnt="0"/>
      <dgm:spPr/>
    </dgm:pt>
    <dgm:pt modelId="{4652B146-BDA9-408D-88A9-707C172E79E7}" type="pres">
      <dgm:prSet presAssocID="{666E3489-1E68-4D1D-A272-573A8C3C5092}" presName="linNode" presStyleCnt="0"/>
      <dgm:spPr/>
    </dgm:pt>
    <dgm:pt modelId="{F6FE552A-FB5B-4ADD-B8B1-0BE5747A3A8E}" type="pres">
      <dgm:prSet presAssocID="{666E3489-1E68-4D1D-A272-573A8C3C5092}" presName="parentText" presStyleLbl="node1" presStyleIdx="4" presStyleCnt="5">
        <dgm:presLayoutVars>
          <dgm:chMax val="1"/>
          <dgm:bulletEnabled val="1"/>
        </dgm:presLayoutVars>
      </dgm:prSet>
      <dgm:spPr/>
    </dgm:pt>
    <dgm:pt modelId="{703BC77E-C7BB-4F42-9BCC-71A9FF75475D}" type="pres">
      <dgm:prSet presAssocID="{666E3489-1E68-4D1D-A272-573A8C3C5092}" presName="descendantText" presStyleLbl="alignAccFollowNode1" presStyleIdx="4" presStyleCnt="5">
        <dgm:presLayoutVars>
          <dgm:bulletEnabled val="1"/>
        </dgm:presLayoutVars>
      </dgm:prSet>
      <dgm:spPr/>
    </dgm:pt>
  </dgm:ptLst>
  <dgm:cxnLst>
    <dgm:cxn modelId="{0BA53124-19D7-4016-944C-F30961F13BC2}" type="presOf" srcId="{6AB13E99-B90F-48A1-8107-F35226A49132}" destId="{5DFB38EA-17DA-4426-BEBC-93FBF7BD6CFE}" srcOrd="0" destOrd="0" presId="urn:microsoft.com/office/officeart/2005/8/layout/vList5"/>
    <dgm:cxn modelId="{BE67862A-4E5B-42AA-ABAF-B9E43F7A0319}" type="presOf" srcId="{80E0F8AF-1780-48FC-A373-EA7DF486C7DC}" destId="{703BC77E-C7BB-4F42-9BCC-71A9FF75475D}" srcOrd="0" destOrd="1" presId="urn:microsoft.com/office/officeart/2005/8/layout/vList5"/>
    <dgm:cxn modelId="{DD8CBC38-26E7-4C56-9EB2-1D3972B26A7D}" srcId="{A2A91C19-92F3-4C87-A764-DB51EA18B220}" destId="{2CA7A586-6646-450A-8AFB-E0F727BBFEB2}" srcOrd="0" destOrd="0" parTransId="{E9C44780-D8EB-4F21-B740-D5BDCB94FC55}" sibTransId="{2EA89DB5-3142-404F-8F10-FB52E51BFE67}"/>
    <dgm:cxn modelId="{DB18003B-9CF0-4B4C-B858-1FCE70AF3983}" srcId="{10F13919-F0C2-4E6A-914D-EB8C24FF0B0F}" destId="{6AB13E99-B90F-48A1-8107-F35226A49132}" srcOrd="0" destOrd="0" parTransId="{A1A7012A-F98B-4F02-9D56-4F91E010980B}" sibTransId="{C2D9B471-0761-4083-8898-81D0C88C28D4}"/>
    <dgm:cxn modelId="{F69ECA3B-F3CD-4D33-927B-115F37610B05}" srcId="{A2A91C19-92F3-4C87-A764-DB51EA18B220}" destId="{DA8072CB-0B22-43D2-AF31-0BD78966624F}" srcOrd="3" destOrd="0" parTransId="{8DA32025-2935-479C-8BA0-6BB89340E876}" sibTransId="{5F11F8C4-CF48-468B-B745-3A1E7F10A8D9}"/>
    <dgm:cxn modelId="{505E285E-9FC1-49FE-AD41-5FC5BE29C7A7}" type="presOf" srcId="{E70C901A-B19F-4701-BBB4-4D4774FD521B}" destId="{D9EA1C16-BA20-4843-8D1E-53ECD44D1726}" srcOrd="0" destOrd="0" presId="urn:microsoft.com/office/officeart/2005/8/layout/vList5"/>
    <dgm:cxn modelId="{62EFE643-B29D-48A7-9A3F-DA52485E57FB}" srcId="{A2A91C19-92F3-4C87-A764-DB51EA18B220}" destId="{E70C901A-B19F-4701-BBB4-4D4774FD521B}" srcOrd="1" destOrd="0" parTransId="{590CD31E-999E-43A2-AAB0-7F6F98E7932D}" sibTransId="{E69E0781-C428-454D-8904-5D5A33BC58BB}"/>
    <dgm:cxn modelId="{D7DD6A64-CC96-4D42-8911-B9F5478C7837}" srcId="{A2A91C19-92F3-4C87-A764-DB51EA18B220}" destId="{666E3489-1E68-4D1D-A272-573A8C3C5092}" srcOrd="4" destOrd="0" parTransId="{AFDFF59C-71D0-4817-8CB6-6E5B210B2F2C}" sibTransId="{C931361E-3240-4C3D-9ABC-227CB795D8AA}"/>
    <dgm:cxn modelId="{6200956A-B8A1-462D-B0E6-F870334037F7}" type="presOf" srcId="{0F6146A9-C0B5-4BF2-A89D-DC6835BA05BA}" destId="{F20C0F5D-29AF-4219-A2A4-4173B8EC0FA5}" srcOrd="0" destOrd="0" presId="urn:microsoft.com/office/officeart/2005/8/layout/vList5"/>
    <dgm:cxn modelId="{4F644875-0C86-4672-8B5F-3E7C7FE926BD}" srcId="{E70C901A-B19F-4701-BBB4-4D4774FD521B}" destId="{68CE626B-D4B7-4DF7-8106-EF757DA4E18A}" srcOrd="0" destOrd="0" parTransId="{59BD7FEC-EA8A-4261-9691-880743FDA9C9}" sibTransId="{321EE29C-C5C7-4C0F-87BB-70CCA3ACE11F}"/>
    <dgm:cxn modelId="{D0B84E84-F9C4-4F83-AC6A-2F6E2CF6751D}" type="presOf" srcId="{A2A91C19-92F3-4C87-A764-DB51EA18B220}" destId="{BF354418-EF89-4D1F-8E1C-6835AA16D286}" srcOrd="0" destOrd="0" presId="urn:microsoft.com/office/officeart/2005/8/layout/vList5"/>
    <dgm:cxn modelId="{361EC898-4484-45E7-8A1B-F6F49BD27960}" type="presOf" srcId="{5253678F-ED33-4A08-916F-A483F1C5254C}" destId="{48549644-5C24-4CE7-B956-4FB022FA3946}" srcOrd="0" destOrd="1" presId="urn:microsoft.com/office/officeart/2005/8/layout/vList5"/>
    <dgm:cxn modelId="{FEE0AE9D-A87F-4367-871B-1916F16FB12D}" srcId="{E70C901A-B19F-4701-BBB4-4D4774FD521B}" destId="{5253678F-ED33-4A08-916F-A483F1C5254C}" srcOrd="1" destOrd="0" parTransId="{D657EFC3-63B5-4185-BC61-4F8866C83D6A}" sibTransId="{8A50DA1E-5C40-4BBB-BF4A-ED8E86DE44F7}"/>
    <dgm:cxn modelId="{FCAFA2A8-5931-473D-BE14-5DEC7A7767AC}" type="presOf" srcId="{10F13919-F0C2-4E6A-914D-EB8C24FF0B0F}" destId="{A573F762-0C83-4D40-BAAD-B9114E1B408B}" srcOrd="0" destOrd="0" presId="urn:microsoft.com/office/officeart/2005/8/layout/vList5"/>
    <dgm:cxn modelId="{F5E544A9-1D25-4926-A660-9CA690629B9E}" srcId="{666E3489-1E68-4D1D-A272-573A8C3C5092}" destId="{80E0F8AF-1780-48FC-A373-EA7DF486C7DC}" srcOrd="1" destOrd="0" parTransId="{488F1103-598F-46CF-949C-F1557287C410}" sibTransId="{31793B69-4E3C-4ABB-918C-D023461B8695}"/>
    <dgm:cxn modelId="{A3234FB9-FD0D-4DE2-999F-3A39FAF34FF3}" type="presOf" srcId="{2CA7A586-6646-450A-8AFB-E0F727BBFEB2}" destId="{383FBF31-63A8-4FA8-8BD0-70D26CCF0AC8}" srcOrd="0" destOrd="0" presId="urn:microsoft.com/office/officeart/2005/8/layout/vList5"/>
    <dgm:cxn modelId="{454D8DBE-73DF-449D-AD0A-449440BD0F02}" srcId="{DA8072CB-0B22-43D2-AF31-0BD78966624F}" destId="{0849D165-00B2-449C-A81B-3AB46A7959E4}" srcOrd="0" destOrd="0" parTransId="{DEA61201-13B6-4870-92DF-58721B86F9B4}" sibTransId="{8FA15018-0B0D-4E01-8F9D-BE24BC279001}"/>
    <dgm:cxn modelId="{36789AC4-E5A1-46C8-A46A-221C1C7C674E}" type="presOf" srcId="{68CE626B-D4B7-4DF7-8106-EF757DA4E18A}" destId="{48549644-5C24-4CE7-B956-4FB022FA3946}" srcOrd="0" destOrd="0" presId="urn:microsoft.com/office/officeart/2005/8/layout/vList5"/>
    <dgm:cxn modelId="{8B03FBCA-C5C4-4C56-9E86-E163E59BF598}" type="presOf" srcId="{4551331E-8267-48E5-9D27-DD58FEEBFBDF}" destId="{703BC77E-C7BB-4F42-9BCC-71A9FF75475D}" srcOrd="0" destOrd="0" presId="urn:microsoft.com/office/officeart/2005/8/layout/vList5"/>
    <dgm:cxn modelId="{212919CD-2DAE-4CA0-848D-B658BB4CCADB}" type="presOf" srcId="{63E46E20-2706-4A5C-8225-019E39CE48EB}" destId="{F20C0F5D-29AF-4219-A2A4-4173B8EC0FA5}" srcOrd="0" destOrd="1" presId="urn:microsoft.com/office/officeart/2005/8/layout/vList5"/>
    <dgm:cxn modelId="{5A8CE4D8-ADF6-46F5-A4DD-D56CF30F9C36}" type="presOf" srcId="{666E3489-1E68-4D1D-A272-573A8C3C5092}" destId="{F6FE552A-FB5B-4ADD-B8B1-0BE5747A3A8E}" srcOrd="0" destOrd="0" presId="urn:microsoft.com/office/officeart/2005/8/layout/vList5"/>
    <dgm:cxn modelId="{68F7DBE1-D730-458A-A323-DE2C59C3067E}" srcId="{666E3489-1E68-4D1D-A272-573A8C3C5092}" destId="{4551331E-8267-48E5-9D27-DD58FEEBFBDF}" srcOrd="0" destOrd="0" parTransId="{EDC666C8-D2A6-46D9-A798-A7322DB0036A}" sibTransId="{F20D82B7-3FFF-4012-9507-C876C19525A1}"/>
    <dgm:cxn modelId="{4B671FE3-546D-4B19-B0D8-E235C2D05976}" srcId="{2CA7A586-6646-450A-8AFB-E0F727BBFEB2}" destId="{0F6146A9-C0B5-4BF2-A89D-DC6835BA05BA}" srcOrd="0" destOrd="0" parTransId="{0409F698-798B-4340-9F45-E7AC4E1E1171}" sibTransId="{1BFACA69-64F1-4C8A-9783-065F1B75EFED}"/>
    <dgm:cxn modelId="{AD023DE5-3E0A-4DBC-BBC6-F19459FB7385}" srcId="{A2A91C19-92F3-4C87-A764-DB51EA18B220}" destId="{10F13919-F0C2-4E6A-914D-EB8C24FF0B0F}" srcOrd="2" destOrd="0" parTransId="{A3A45270-4CDA-44F7-A1FB-B95D4453C78E}" sibTransId="{EEC4F9BA-CB84-4CD4-816E-E769EC74D01B}"/>
    <dgm:cxn modelId="{93164DE7-7D90-4A90-A14B-9A5FB467E786}" type="presOf" srcId="{DA8072CB-0B22-43D2-AF31-0BD78966624F}" destId="{A118BABA-B176-42BF-8F97-63B5EAEA6B55}" srcOrd="0" destOrd="0" presId="urn:microsoft.com/office/officeart/2005/8/layout/vList5"/>
    <dgm:cxn modelId="{5DF923FD-E632-41D4-9B4A-E9CE6F0C0B6E}" type="presOf" srcId="{0849D165-00B2-449C-A81B-3AB46A7959E4}" destId="{3FE8D46E-1C7B-404B-80E6-03CF2D2898B7}" srcOrd="0" destOrd="0" presId="urn:microsoft.com/office/officeart/2005/8/layout/vList5"/>
    <dgm:cxn modelId="{C68FFFFF-0BAE-4598-B2A7-E7132A9A78F0}" srcId="{2CA7A586-6646-450A-8AFB-E0F727BBFEB2}" destId="{63E46E20-2706-4A5C-8225-019E39CE48EB}" srcOrd="1" destOrd="0" parTransId="{0F3E179D-4997-4040-B055-D88357FF298F}" sibTransId="{1ED2AD81-7583-43C4-B51B-CA8B44CA9070}"/>
    <dgm:cxn modelId="{9F80D067-63DF-4B47-8613-B8AB1E354DFC}" type="presParOf" srcId="{BF354418-EF89-4D1F-8E1C-6835AA16D286}" destId="{60B03192-AE8E-4DC0-A932-9ACCF8E89F1D}" srcOrd="0" destOrd="0" presId="urn:microsoft.com/office/officeart/2005/8/layout/vList5"/>
    <dgm:cxn modelId="{A326D4EC-5DBF-431F-B6DC-9C70E6F16377}" type="presParOf" srcId="{60B03192-AE8E-4DC0-A932-9ACCF8E89F1D}" destId="{383FBF31-63A8-4FA8-8BD0-70D26CCF0AC8}" srcOrd="0" destOrd="0" presId="urn:microsoft.com/office/officeart/2005/8/layout/vList5"/>
    <dgm:cxn modelId="{C71D42EF-8FF8-4A20-9A82-4FE9BABB28DA}" type="presParOf" srcId="{60B03192-AE8E-4DC0-A932-9ACCF8E89F1D}" destId="{F20C0F5D-29AF-4219-A2A4-4173B8EC0FA5}" srcOrd="1" destOrd="0" presId="urn:microsoft.com/office/officeart/2005/8/layout/vList5"/>
    <dgm:cxn modelId="{446936DF-B251-49E6-83F8-388EF269CFD2}" type="presParOf" srcId="{BF354418-EF89-4D1F-8E1C-6835AA16D286}" destId="{C94144D2-5C2D-4557-A315-51F35F9045C3}" srcOrd="1" destOrd="0" presId="urn:microsoft.com/office/officeart/2005/8/layout/vList5"/>
    <dgm:cxn modelId="{9CAEA57B-EEC2-4A08-A4CA-C8BD7D44EF8D}" type="presParOf" srcId="{BF354418-EF89-4D1F-8E1C-6835AA16D286}" destId="{6ED668BC-09D1-4432-BE15-507E2A38B246}" srcOrd="2" destOrd="0" presId="urn:microsoft.com/office/officeart/2005/8/layout/vList5"/>
    <dgm:cxn modelId="{40101D44-18E5-4935-81AB-EEA2355AA659}" type="presParOf" srcId="{6ED668BC-09D1-4432-BE15-507E2A38B246}" destId="{D9EA1C16-BA20-4843-8D1E-53ECD44D1726}" srcOrd="0" destOrd="0" presId="urn:microsoft.com/office/officeart/2005/8/layout/vList5"/>
    <dgm:cxn modelId="{EF8611F7-5A1B-4A47-A75D-03DE707BE207}" type="presParOf" srcId="{6ED668BC-09D1-4432-BE15-507E2A38B246}" destId="{48549644-5C24-4CE7-B956-4FB022FA3946}" srcOrd="1" destOrd="0" presId="urn:microsoft.com/office/officeart/2005/8/layout/vList5"/>
    <dgm:cxn modelId="{38A26D75-00AB-4077-B002-4C09A61CEA22}" type="presParOf" srcId="{BF354418-EF89-4D1F-8E1C-6835AA16D286}" destId="{02FEB498-0A87-4497-ABC0-FFE03477E1D9}" srcOrd="3" destOrd="0" presId="urn:microsoft.com/office/officeart/2005/8/layout/vList5"/>
    <dgm:cxn modelId="{6C93D1A0-456F-41D8-9A0C-3ABA521945F2}" type="presParOf" srcId="{BF354418-EF89-4D1F-8E1C-6835AA16D286}" destId="{D69557D6-1EA4-4740-9564-4DA1F48ABC17}" srcOrd="4" destOrd="0" presId="urn:microsoft.com/office/officeart/2005/8/layout/vList5"/>
    <dgm:cxn modelId="{3128C5DD-65D0-4764-8F4E-5421A3DD9C51}" type="presParOf" srcId="{D69557D6-1EA4-4740-9564-4DA1F48ABC17}" destId="{A573F762-0C83-4D40-BAAD-B9114E1B408B}" srcOrd="0" destOrd="0" presId="urn:microsoft.com/office/officeart/2005/8/layout/vList5"/>
    <dgm:cxn modelId="{2EF353F6-F33A-4E44-91E3-A98308E9E61B}" type="presParOf" srcId="{D69557D6-1EA4-4740-9564-4DA1F48ABC17}" destId="{5DFB38EA-17DA-4426-BEBC-93FBF7BD6CFE}" srcOrd="1" destOrd="0" presId="urn:microsoft.com/office/officeart/2005/8/layout/vList5"/>
    <dgm:cxn modelId="{B0B0DC63-4B16-4EF0-90C2-F5F22DC93B3D}" type="presParOf" srcId="{BF354418-EF89-4D1F-8E1C-6835AA16D286}" destId="{F2DDCB71-BEC6-428E-9DEC-5B05AF3DD761}" srcOrd="5" destOrd="0" presId="urn:microsoft.com/office/officeart/2005/8/layout/vList5"/>
    <dgm:cxn modelId="{2C074AFD-F30F-4ABF-AB70-F77B0276EA4D}" type="presParOf" srcId="{BF354418-EF89-4D1F-8E1C-6835AA16D286}" destId="{7626A8C2-EF0A-4A5B-972B-E61C9933AD10}" srcOrd="6" destOrd="0" presId="urn:microsoft.com/office/officeart/2005/8/layout/vList5"/>
    <dgm:cxn modelId="{90F79994-AF54-469A-92AF-306BBB359EBD}" type="presParOf" srcId="{7626A8C2-EF0A-4A5B-972B-E61C9933AD10}" destId="{A118BABA-B176-42BF-8F97-63B5EAEA6B55}" srcOrd="0" destOrd="0" presId="urn:microsoft.com/office/officeart/2005/8/layout/vList5"/>
    <dgm:cxn modelId="{BF29C333-470A-44B4-8DA5-796AE48B8228}" type="presParOf" srcId="{7626A8C2-EF0A-4A5B-972B-E61C9933AD10}" destId="{3FE8D46E-1C7B-404B-80E6-03CF2D2898B7}" srcOrd="1" destOrd="0" presId="urn:microsoft.com/office/officeart/2005/8/layout/vList5"/>
    <dgm:cxn modelId="{8D8A5A05-B59B-4FE9-AEDE-54620E1414EA}" type="presParOf" srcId="{BF354418-EF89-4D1F-8E1C-6835AA16D286}" destId="{D8503378-E925-4091-A54F-7C3C6C29AB55}" srcOrd="7" destOrd="0" presId="urn:microsoft.com/office/officeart/2005/8/layout/vList5"/>
    <dgm:cxn modelId="{781F179C-1D47-4657-9F57-C39D2612C772}" type="presParOf" srcId="{BF354418-EF89-4D1F-8E1C-6835AA16D286}" destId="{4652B146-BDA9-408D-88A9-707C172E79E7}" srcOrd="8" destOrd="0" presId="urn:microsoft.com/office/officeart/2005/8/layout/vList5"/>
    <dgm:cxn modelId="{9E5BF6A7-ED4A-47A5-9993-5760501E2CD7}" type="presParOf" srcId="{4652B146-BDA9-408D-88A9-707C172E79E7}" destId="{F6FE552A-FB5B-4ADD-B8B1-0BE5747A3A8E}" srcOrd="0" destOrd="0" presId="urn:microsoft.com/office/officeart/2005/8/layout/vList5"/>
    <dgm:cxn modelId="{B6889BD1-3292-4152-ACD8-89A4870793FF}" type="presParOf" srcId="{4652B146-BDA9-408D-88A9-707C172E79E7}" destId="{703BC77E-C7BB-4F42-9BCC-71A9FF75475D}"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172273-A39B-4051-991D-D0AD63DFA42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6CBB9E6-9755-4600-AC03-2283C76EF40E}">
      <dgm:prSet/>
      <dgm:spPr/>
      <dgm:t>
        <a:bodyPr/>
        <a:lstStyle/>
        <a:p>
          <a:pPr>
            <a:lnSpc>
              <a:spcPct val="100000"/>
            </a:lnSpc>
          </a:pPr>
          <a:r>
            <a:rPr lang="en-US"/>
            <a:t>Current Status:</a:t>
          </a:r>
        </a:p>
      </dgm:t>
    </dgm:pt>
    <dgm:pt modelId="{20C91203-AC7A-494A-807E-8F7B7A4EF369}" type="parTrans" cxnId="{D81F3B98-1901-4F16-8498-28195513B9E3}">
      <dgm:prSet/>
      <dgm:spPr/>
      <dgm:t>
        <a:bodyPr/>
        <a:lstStyle/>
        <a:p>
          <a:endParaRPr lang="en-US"/>
        </a:p>
      </dgm:t>
    </dgm:pt>
    <dgm:pt modelId="{55C75587-535C-482D-8810-0DB533BD684B}" type="sibTrans" cxnId="{D81F3B98-1901-4F16-8498-28195513B9E3}">
      <dgm:prSet/>
      <dgm:spPr/>
      <dgm:t>
        <a:bodyPr/>
        <a:lstStyle/>
        <a:p>
          <a:endParaRPr lang="en-US"/>
        </a:p>
      </dgm:t>
    </dgm:pt>
    <dgm:pt modelId="{9E6E15DB-FDFB-4632-AC47-F04576B7568D}">
      <dgm:prSet/>
      <dgm:spPr/>
      <dgm:t>
        <a:bodyPr/>
        <a:lstStyle/>
        <a:p>
          <a:pPr>
            <a:lnSpc>
              <a:spcPct val="100000"/>
            </a:lnSpc>
          </a:pPr>
          <a:r>
            <a:rPr lang="en-US"/>
            <a:t>Investigation Complete</a:t>
          </a:r>
        </a:p>
      </dgm:t>
    </dgm:pt>
    <dgm:pt modelId="{43A2B5A4-6850-49FC-BAC3-831213538623}" type="parTrans" cxnId="{F1736F41-78A6-43BB-9F80-BBFCD84CCEF4}">
      <dgm:prSet/>
      <dgm:spPr/>
      <dgm:t>
        <a:bodyPr/>
        <a:lstStyle/>
        <a:p>
          <a:endParaRPr lang="en-US"/>
        </a:p>
      </dgm:t>
    </dgm:pt>
    <dgm:pt modelId="{A980921C-79AB-4A6D-AA57-6C72166D318E}" type="sibTrans" cxnId="{F1736F41-78A6-43BB-9F80-BBFCD84CCEF4}">
      <dgm:prSet/>
      <dgm:spPr/>
      <dgm:t>
        <a:bodyPr/>
        <a:lstStyle/>
        <a:p>
          <a:endParaRPr lang="en-US"/>
        </a:p>
      </dgm:t>
    </dgm:pt>
    <dgm:pt modelId="{C921B648-0B2C-4431-B8B2-FAFB6BBAA053}">
      <dgm:prSet/>
      <dgm:spPr/>
      <dgm:t>
        <a:bodyPr/>
        <a:lstStyle/>
        <a:p>
          <a:pPr>
            <a:lnSpc>
              <a:spcPct val="100000"/>
            </a:lnSpc>
          </a:pPr>
          <a:r>
            <a:rPr lang="en-US"/>
            <a:t>Outcome:</a:t>
          </a:r>
        </a:p>
      </dgm:t>
    </dgm:pt>
    <dgm:pt modelId="{E1FC6CB7-D2B2-445A-8348-4E60F369A894}" type="parTrans" cxnId="{108BEF2D-F3AE-4CFD-BC19-CF3BB0644E03}">
      <dgm:prSet/>
      <dgm:spPr/>
      <dgm:t>
        <a:bodyPr/>
        <a:lstStyle/>
        <a:p>
          <a:endParaRPr lang="en-US"/>
        </a:p>
      </dgm:t>
    </dgm:pt>
    <dgm:pt modelId="{74C5D783-6D3D-4E2D-B180-F1D1F2991A2E}" type="sibTrans" cxnId="{108BEF2D-F3AE-4CFD-BC19-CF3BB0644E03}">
      <dgm:prSet/>
      <dgm:spPr/>
      <dgm:t>
        <a:bodyPr/>
        <a:lstStyle/>
        <a:p>
          <a:endParaRPr lang="en-US"/>
        </a:p>
      </dgm:t>
    </dgm:pt>
    <dgm:pt modelId="{35DC5106-9933-4BF1-B89D-9A2014FF06A7}">
      <dgm:prSet/>
      <dgm:spPr/>
      <dgm:t>
        <a:bodyPr/>
        <a:lstStyle/>
        <a:p>
          <a:pPr>
            <a:lnSpc>
              <a:spcPct val="100000"/>
            </a:lnSpc>
          </a:pPr>
          <a:r>
            <a:rPr lang="en-US"/>
            <a:t>All artifacts (Chat, Video, Web, USB) have been successfully recovered and correlated.</a:t>
          </a:r>
        </a:p>
      </dgm:t>
    </dgm:pt>
    <dgm:pt modelId="{30AA60A8-D280-4B5B-A8D3-F948EDAD24FA}" type="parTrans" cxnId="{27A3D52C-2094-454E-B534-F3AD673945CD}">
      <dgm:prSet/>
      <dgm:spPr/>
      <dgm:t>
        <a:bodyPr/>
        <a:lstStyle/>
        <a:p>
          <a:endParaRPr lang="en-US"/>
        </a:p>
      </dgm:t>
    </dgm:pt>
    <dgm:pt modelId="{7DD7A418-07E8-488A-B0BB-D1D57DA89C5E}" type="sibTrans" cxnId="{27A3D52C-2094-454E-B534-F3AD673945CD}">
      <dgm:prSet/>
      <dgm:spPr/>
      <dgm:t>
        <a:bodyPr/>
        <a:lstStyle/>
        <a:p>
          <a:endParaRPr lang="en-US"/>
        </a:p>
      </dgm:t>
    </dgm:pt>
    <dgm:pt modelId="{E57AFB87-B36E-48A5-A04B-77428F2C02C8}" type="pres">
      <dgm:prSet presAssocID="{00172273-A39B-4051-991D-D0AD63DFA425}" presName="root" presStyleCnt="0">
        <dgm:presLayoutVars>
          <dgm:dir/>
          <dgm:resizeHandles val="exact"/>
        </dgm:presLayoutVars>
      </dgm:prSet>
      <dgm:spPr/>
    </dgm:pt>
    <dgm:pt modelId="{AC373B62-E7AC-4DE5-BA08-ADDFAF5A052A}" type="pres">
      <dgm:prSet presAssocID="{96CBB9E6-9755-4600-AC03-2283C76EF40E}" presName="compNode" presStyleCnt="0"/>
      <dgm:spPr/>
    </dgm:pt>
    <dgm:pt modelId="{B3B8B57E-5B7E-487F-8853-939E19B35A7D}" type="pres">
      <dgm:prSet presAssocID="{96CBB9E6-9755-4600-AC03-2283C76EF40E}" presName="bgRect" presStyleLbl="bgShp" presStyleIdx="0" presStyleCnt="2"/>
      <dgm:spPr/>
    </dgm:pt>
    <dgm:pt modelId="{0C95731D-AB3D-4E41-B4A1-C8C326197212}" type="pres">
      <dgm:prSet presAssocID="{96CBB9E6-9755-4600-AC03-2283C76EF40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600F1610-D5C8-473E-92A7-64FA4DE09639}" type="pres">
      <dgm:prSet presAssocID="{96CBB9E6-9755-4600-AC03-2283C76EF40E}" presName="spaceRect" presStyleCnt="0"/>
      <dgm:spPr/>
    </dgm:pt>
    <dgm:pt modelId="{CCFCEFC6-7374-4736-849B-E8D4F4F8891A}" type="pres">
      <dgm:prSet presAssocID="{96CBB9E6-9755-4600-AC03-2283C76EF40E}" presName="parTx" presStyleLbl="revTx" presStyleIdx="0" presStyleCnt="4">
        <dgm:presLayoutVars>
          <dgm:chMax val="0"/>
          <dgm:chPref val="0"/>
        </dgm:presLayoutVars>
      </dgm:prSet>
      <dgm:spPr/>
    </dgm:pt>
    <dgm:pt modelId="{B699BC70-BD02-4AB8-BE6A-EEE790A3DA6B}" type="pres">
      <dgm:prSet presAssocID="{96CBB9E6-9755-4600-AC03-2283C76EF40E}" presName="desTx" presStyleLbl="revTx" presStyleIdx="1" presStyleCnt="4">
        <dgm:presLayoutVars/>
      </dgm:prSet>
      <dgm:spPr/>
    </dgm:pt>
    <dgm:pt modelId="{1F7508CF-3831-48E9-952C-8C0BD8F4D731}" type="pres">
      <dgm:prSet presAssocID="{55C75587-535C-482D-8810-0DB533BD684B}" presName="sibTrans" presStyleCnt="0"/>
      <dgm:spPr/>
    </dgm:pt>
    <dgm:pt modelId="{090BB1C5-3C10-4C24-B171-8E402FD137F9}" type="pres">
      <dgm:prSet presAssocID="{C921B648-0B2C-4431-B8B2-FAFB6BBAA053}" presName="compNode" presStyleCnt="0"/>
      <dgm:spPr/>
    </dgm:pt>
    <dgm:pt modelId="{ABC2AC42-BE79-41F7-977F-1E2B5B6C4088}" type="pres">
      <dgm:prSet presAssocID="{C921B648-0B2C-4431-B8B2-FAFB6BBAA053}" presName="bgRect" presStyleLbl="bgShp" presStyleIdx="1" presStyleCnt="2"/>
      <dgm:spPr/>
    </dgm:pt>
    <dgm:pt modelId="{4B4CAABA-18D0-4909-8E7E-123F97413CBB}" type="pres">
      <dgm:prSet presAssocID="{C921B648-0B2C-4431-B8B2-FAFB6BBAA05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B"/>
        </a:ext>
      </dgm:extLst>
    </dgm:pt>
    <dgm:pt modelId="{CAE5B0F2-DE7B-4E5E-A12B-0E7FB5253257}" type="pres">
      <dgm:prSet presAssocID="{C921B648-0B2C-4431-B8B2-FAFB6BBAA053}" presName="spaceRect" presStyleCnt="0"/>
      <dgm:spPr/>
    </dgm:pt>
    <dgm:pt modelId="{F85C5DBB-570A-41FB-9B26-3442BDD3C86F}" type="pres">
      <dgm:prSet presAssocID="{C921B648-0B2C-4431-B8B2-FAFB6BBAA053}" presName="parTx" presStyleLbl="revTx" presStyleIdx="2" presStyleCnt="4">
        <dgm:presLayoutVars>
          <dgm:chMax val="0"/>
          <dgm:chPref val="0"/>
        </dgm:presLayoutVars>
      </dgm:prSet>
      <dgm:spPr/>
    </dgm:pt>
    <dgm:pt modelId="{8B98F0FB-ED1F-4063-A95F-D86020E2495A}" type="pres">
      <dgm:prSet presAssocID="{C921B648-0B2C-4431-B8B2-FAFB6BBAA053}" presName="desTx" presStyleLbl="revTx" presStyleIdx="3" presStyleCnt="4">
        <dgm:presLayoutVars/>
      </dgm:prSet>
      <dgm:spPr/>
    </dgm:pt>
  </dgm:ptLst>
  <dgm:cxnLst>
    <dgm:cxn modelId="{23C36824-2FDF-47EC-9D8B-C7B182D19162}" type="presOf" srcId="{C921B648-0B2C-4431-B8B2-FAFB6BBAA053}" destId="{F85C5DBB-570A-41FB-9B26-3442BDD3C86F}" srcOrd="0" destOrd="0" presId="urn:microsoft.com/office/officeart/2018/2/layout/IconVerticalSolidList"/>
    <dgm:cxn modelId="{72DCBE28-726C-4C13-8E34-B2D533F6C667}" type="presOf" srcId="{35DC5106-9933-4BF1-B89D-9A2014FF06A7}" destId="{8B98F0FB-ED1F-4063-A95F-D86020E2495A}" srcOrd="0" destOrd="0" presId="urn:microsoft.com/office/officeart/2018/2/layout/IconVerticalSolidList"/>
    <dgm:cxn modelId="{27A3D52C-2094-454E-B534-F3AD673945CD}" srcId="{C921B648-0B2C-4431-B8B2-FAFB6BBAA053}" destId="{35DC5106-9933-4BF1-B89D-9A2014FF06A7}" srcOrd="0" destOrd="0" parTransId="{30AA60A8-D280-4B5B-A8D3-F948EDAD24FA}" sibTransId="{7DD7A418-07E8-488A-B0BB-D1D57DA89C5E}"/>
    <dgm:cxn modelId="{108BEF2D-F3AE-4CFD-BC19-CF3BB0644E03}" srcId="{00172273-A39B-4051-991D-D0AD63DFA425}" destId="{C921B648-0B2C-4431-B8B2-FAFB6BBAA053}" srcOrd="1" destOrd="0" parTransId="{E1FC6CB7-D2B2-445A-8348-4E60F369A894}" sibTransId="{74C5D783-6D3D-4E2D-B180-F1D1F2991A2E}"/>
    <dgm:cxn modelId="{FB6E1133-DCAE-4582-9163-ACA0BBC0EB54}" type="presOf" srcId="{96CBB9E6-9755-4600-AC03-2283C76EF40E}" destId="{CCFCEFC6-7374-4736-849B-E8D4F4F8891A}" srcOrd="0" destOrd="0" presId="urn:microsoft.com/office/officeart/2018/2/layout/IconVerticalSolidList"/>
    <dgm:cxn modelId="{F1736F41-78A6-43BB-9F80-BBFCD84CCEF4}" srcId="{96CBB9E6-9755-4600-AC03-2283C76EF40E}" destId="{9E6E15DB-FDFB-4632-AC47-F04576B7568D}" srcOrd="0" destOrd="0" parTransId="{43A2B5A4-6850-49FC-BAC3-831213538623}" sibTransId="{A980921C-79AB-4A6D-AA57-6C72166D318E}"/>
    <dgm:cxn modelId="{94134B59-9413-467F-809A-B8979535F0BF}" type="presOf" srcId="{00172273-A39B-4051-991D-D0AD63DFA425}" destId="{E57AFB87-B36E-48A5-A04B-77428F2C02C8}" srcOrd="0" destOrd="0" presId="urn:microsoft.com/office/officeart/2018/2/layout/IconVerticalSolidList"/>
    <dgm:cxn modelId="{D81F3B98-1901-4F16-8498-28195513B9E3}" srcId="{00172273-A39B-4051-991D-D0AD63DFA425}" destId="{96CBB9E6-9755-4600-AC03-2283C76EF40E}" srcOrd="0" destOrd="0" parTransId="{20C91203-AC7A-494A-807E-8F7B7A4EF369}" sibTransId="{55C75587-535C-482D-8810-0DB533BD684B}"/>
    <dgm:cxn modelId="{E2F084F9-24B2-4996-BA1E-99F3E3FF45A5}" type="presOf" srcId="{9E6E15DB-FDFB-4632-AC47-F04576B7568D}" destId="{B699BC70-BD02-4AB8-BE6A-EEE790A3DA6B}" srcOrd="0" destOrd="0" presId="urn:microsoft.com/office/officeart/2018/2/layout/IconVerticalSolidList"/>
    <dgm:cxn modelId="{43D1B2B6-352D-449B-9B7F-6B4242E59FE3}" type="presParOf" srcId="{E57AFB87-B36E-48A5-A04B-77428F2C02C8}" destId="{AC373B62-E7AC-4DE5-BA08-ADDFAF5A052A}" srcOrd="0" destOrd="0" presId="urn:microsoft.com/office/officeart/2018/2/layout/IconVerticalSolidList"/>
    <dgm:cxn modelId="{F6911709-2321-4925-BCEC-DD6271AD77F6}" type="presParOf" srcId="{AC373B62-E7AC-4DE5-BA08-ADDFAF5A052A}" destId="{B3B8B57E-5B7E-487F-8853-939E19B35A7D}" srcOrd="0" destOrd="0" presId="urn:microsoft.com/office/officeart/2018/2/layout/IconVerticalSolidList"/>
    <dgm:cxn modelId="{42036FDC-47DD-4FF6-AA9A-CBB55EA78162}" type="presParOf" srcId="{AC373B62-E7AC-4DE5-BA08-ADDFAF5A052A}" destId="{0C95731D-AB3D-4E41-B4A1-C8C326197212}" srcOrd="1" destOrd="0" presId="urn:microsoft.com/office/officeart/2018/2/layout/IconVerticalSolidList"/>
    <dgm:cxn modelId="{C4817CBB-C6E9-4762-B79A-01C2D6A8512C}" type="presParOf" srcId="{AC373B62-E7AC-4DE5-BA08-ADDFAF5A052A}" destId="{600F1610-D5C8-473E-92A7-64FA4DE09639}" srcOrd="2" destOrd="0" presId="urn:microsoft.com/office/officeart/2018/2/layout/IconVerticalSolidList"/>
    <dgm:cxn modelId="{64BAF1E3-A9EA-4E94-926E-9AAFA826711F}" type="presParOf" srcId="{AC373B62-E7AC-4DE5-BA08-ADDFAF5A052A}" destId="{CCFCEFC6-7374-4736-849B-E8D4F4F8891A}" srcOrd="3" destOrd="0" presId="urn:microsoft.com/office/officeart/2018/2/layout/IconVerticalSolidList"/>
    <dgm:cxn modelId="{6836DCCC-DF9C-4368-85E7-75AEFB4FF7FD}" type="presParOf" srcId="{AC373B62-E7AC-4DE5-BA08-ADDFAF5A052A}" destId="{B699BC70-BD02-4AB8-BE6A-EEE790A3DA6B}" srcOrd="4" destOrd="0" presId="urn:microsoft.com/office/officeart/2018/2/layout/IconVerticalSolidList"/>
    <dgm:cxn modelId="{E22CE408-DB11-42C1-8539-EA7A7548BC85}" type="presParOf" srcId="{E57AFB87-B36E-48A5-A04B-77428F2C02C8}" destId="{1F7508CF-3831-48E9-952C-8C0BD8F4D731}" srcOrd="1" destOrd="0" presId="urn:microsoft.com/office/officeart/2018/2/layout/IconVerticalSolidList"/>
    <dgm:cxn modelId="{99883560-1861-4AE0-892A-9170CC7A0225}" type="presParOf" srcId="{E57AFB87-B36E-48A5-A04B-77428F2C02C8}" destId="{090BB1C5-3C10-4C24-B171-8E402FD137F9}" srcOrd="2" destOrd="0" presId="urn:microsoft.com/office/officeart/2018/2/layout/IconVerticalSolidList"/>
    <dgm:cxn modelId="{17E14273-F945-4EB0-87D7-501EF699218B}" type="presParOf" srcId="{090BB1C5-3C10-4C24-B171-8E402FD137F9}" destId="{ABC2AC42-BE79-41F7-977F-1E2B5B6C4088}" srcOrd="0" destOrd="0" presId="urn:microsoft.com/office/officeart/2018/2/layout/IconVerticalSolidList"/>
    <dgm:cxn modelId="{D64E2BDC-DC5A-4F01-A75D-D4361B53F039}" type="presParOf" srcId="{090BB1C5-3C10-4C24-B171-8E402FD137F9}" destId="{4B4CAABA-18D0-4909-8E7E-123F97413CBB}" srcOrd="1" destOrd="0" presId="urn:microsoft.com/office/officeart/2018/2/layout/IconVerticalSolidList"/>
    <dgm:cxn modelId="{34017B75-ED44-4F66-88FE-7574335F5605}" type="presParOf" srcId="{090BB1C5-3C10-4C24-B171-8E402FD137F9}" destId="{CAE5B0F2-DE7B-4E5E-A12B-0E7FB5253257}" srcOrd="2" destOrd="0" presId="urn:microsoft.com/office/officeart/2018/2/layout/IconVerticalSolidList"/>
    <dgm:cxn modelId="{EEAA6E4B-C097-4018-A063-F2A39648B5EA}" type="presParOf" srcId="{090BB1C5-3C10-4C24-B171-8E402FD137F9}" destId="{F85C5DBB-570A-41FB-9B26-3442BDD3C86F}" srcOrd="3" destOrd="0" presId="urn:microsoft.com/office/officeart/2018/2/layout/IconVerticalSolidList"/>
    <dgm:cxn modelId="{0C6BAEEE-FD20-4128-96D0-4207822E31F6}" type="presParOf" srcId="{090BB1C5-3C10-4C24-B171-8E402FD137F9}" destId="{8B98F0FB-ED1F-4063-A95F-D86020E2495A}" srcOrd="4"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0C0F5D-29AF-4219-A2A4-4173B8EC0FA5}">
      <dsp:nvSpPr>
        <dsp:cNvPr id="0" name=""/>
        <dsp:cNvSpPr/>
      </dsp:nvSpPr>
      <dsp:spPr>
        <a:xfrm rot="5400000">
          <a:off x="6816183" y="-2945049"/>
          <a:ext cx="668848"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a:t>User Story: Recover messages containing insults/threats to Jane Doe.</a:t>
          </a:r>
        </a:p>
        <a:p>
          <a:pPr marL="114300" lvl="1" indent="-114300" algn="l" defTabSz="622300">
            <a:lnSpc>
              <a:spcPct val="90000"/>
            </a:lnSpc>
            <a:spcBef>
              <a:spcPct val="0"/>
            </a:spcBef>
            <a:spcAft>
              <a:spcPct val="15000"/>
            </a:spcAft>
            <a:buChar char="•"/>
          </a:pPr>
          <a:r>
            <a:rPr lang="en-US" sz="1400" kern="1200"/>
            <a:t>User Story: Identify communications related to harassment on gaming platforms.</a:t>
          </a:r>
        </a:p>
      </dsp:txBody>
      <dsp:txXfrm rot="-5400000">
        <a:off x="3785615" y="118169"/>
        <a:ext cx="6697334" cy="603548"/>
      </dsp:txXfrm>
    </dsp:sp>
    <dsp:sp modelId="{383FBF31-63A8-4FA8-8BD0-70D26CCF0AC8}">
      <dsp:nvSpPr>
        <dsp:cNvPr id="0" name=""/>
        <dsp:cNvSpPr/>
      </dsp:nvSpPr>
      <dsp:spPr>
        <a:xfrm>
          <a:off x="0" y="1912"/>
          <a:ext cx="3785616" cy="8360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a:t>Milestone 1:Chat Application Artifacts (Discord &amp; Steam).</a:t>
          </a:r>
        </a:p>
      </dsp:txBody>
      <dsp:txXfrm>
        <a:off x="40813" y="42725"/>
        <a:ext cx="3703990" cy="754434"/>
      </dsp:txXfrm>
    </dsp:sp>
    <dsp:sp modelId="{48549644-5C24-4CE7-B956-4FB022FA3946}">
      <dsp:nvSpPr>
        <dsp:cNvPr id="0" name=""/>
        <dsp:cNvSpPr/>
      </dsp:nvSpPr>
      <dsp:spPr>
        <a:xfrm rot="5400000">
          <a:off x="6816183" y="-2067186"/>
          <a:ext cx="668848"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a:t>User Story: Locate the "meme" video file deleted from the hard drive.</a:t>
          </a:r>
        </a:p>
        <a:p>
          <a:pPr marL="114300" lvl="1" indent="-114300" algn="l" defTabSz="622300">
            <a:lnSpc>
              <a:spcPct val="90000"/>
            </a:lnSpc>
            <a:spcBef>
              <a:spcPct val="0"/>
            </a:spcBef>
            <a:spcAft>
              <a:spcPct val="15000"/>
            </a:spcAft>
            <a:buChar char="•"/>
          </a:pPr>
          <a:r>
            <a:rPr lang="en-US" sz="1400" kern="1200"/>
            <a:t>User Story: Prove the video was created/edited on </a:t>
          </a:r>
          <a:r>
            <a:rPr lang="en-US" sz="1400" i="1" kern="1200"/>
            <a:t>this</a:t>
          </a:r>
          <a:r>
            <a:rPr lang="en-US" sz="1400" kern="1200"/>
            <a:t> machine.</a:t>
          </a:r>
        </a:p>
      </dsp:txBody>
      <dsp:txXfrm rot="-5400000">
        <a:off x="3785615" y="996032"/>
        <a:ext cx="6697334" cy="603548"/>
      </dsp:txXfrm>
    </dsp:sp>
    <dsp:sp modelId="{D9EA1C16-BA20-4843-8D1E-53ECD44D1726}">
      <dsp:nvSpPr>
        <dsp:cNvPr id="0" name=""/>
        <dsp:cNvSpPr/>
      </dsp:nvSpPr>
      <dsp:spPr>
        <a:xfrm>
          <a:off x="0" y="879775"/>
          <a:ext cx="3785616" cy="8360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a:t>Milestone 2: Video Artifacts (Recovery &amp; Metadata).</a:t>
          </a:r>
        </a:p>
      </dsp:txBody>
      <dsp:txXfrm>
        <a:off x="40813" y="920588"/>
        <a:ext cx="3703990" cy="754434"/>
      </dsp:txXfrm>
    </dsp:sp>
    <dsp:sp modelId="{5DFB38EA-17DA-4426-BEBC-93FBF7BD6CFE}">
      <dsp:nvSpPr>
        <dsp:cNvPr id="0" name=""/>
        <dsp:cNvSpPr/>
      </dsp:nvSpPr>
      <dsp:spPr>
        <a:xfrm rot="5400000">
          <a:off x="6816183" y="-1189323"/>
          <a:ext cx="668848"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a:t>User Story: Did the suspect upload the video online?</a:t>
          </a:r>
        </a:p>
      </dsp:txBody>
      <dsp:txXfrm rot="-5400000">
        <a:off x="3785615" y="1873895"/>
        <a:ext cx="6697334" cy="603548"/>
      </dsp:txXfrm>
    </dsp:sp>
    <dsp:sp modelId="{A573F762-0C83-4D40-BAAD-B9114E1B408B}">
      <dsp:nvSpPr>
        <dsp:cNvPr id="0" name=""/>
        <dsp:cNvSpPr/>
      </dsp:nvSpPr>
      <dsp:spPr>
        <a:xfrm>
          <a:off x="0" y="1757638"/>
          <a:ext cx="3785616" cy="8360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a:t>Milestone 3: Browser History (Web Distribution).</a:t>
          </a:r>
        </a:p>
      </dsp:txBody>
      <dsp:txXfrm>
        <a:off x="40813" y="1798451"/>
        <a:ext cx="3703990" cy="754434"/>
      </dsp:txXfrm>
    </dsp:sp>
    <dsp:sp modelId="{3FE8D46E-1C7B-404B-80E6-03CF2D2898B7}">
      <dsp:nvSpPr>
        <dsp:cNvPr id="0" name=""/>
        <dsp:cNvSpPr/>
      </dsp:nvSpPr>
      <dsp:spPr>
        <a:xfrm rot="5400000">
          <a:off x="6816183" y="-311459"/>
          <a:ext cx="668848"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a:t>User Story: Was the video transferred to an external drive?</a:t>
          </a:r>
        </a:p>
      </dsp:txBody>
      <dsp:txXfrm rot="-5400000">
        <a:off x="3785615" y="2751759"/>
        <a:ext cx="6697334" cy="603548"/>
      </dsp:txXfrm>
    </dsp:sp>
    <dsp:sp modelId="{A118BABA-B176-42BF-8F97-63B5EAEA6B55}">
      <dsp:nvSpPr>
        <dsp:cNvPr id="0" name=""/>
        <dsp:cNvSpPr/>
      </dsp:nvSpPr>
      <dsp:spPr>
        <a:xfrm>
          <a:off x="0" y="2635502"/>
          <a:ext cx="3785616" cy="8360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a:t>Milestone 4: USB Device History (Physical Exfiltration).</a:t>
          </a:r>
        </a:p>
      </dsp:txBody>
      <dsp:txXfrm>
        <a:off x="40813" y="2676315"/>
        <a:ext cx="3703990" cy="754434"/>
      </dsp:txXfrm>
    </dsp:sp>
    <dsp:sp modelId="{703BC77E-C7BB-4F42-9BCC-71A9FF75475D}">
      <dsp:nvSpPr>
        <dsp:cNvPr id="0" name=""/>
        <dsp:cNvSpPr/>
      </dsp:nvSpPr>
      <dsp:spPr>
        <a:xfrm rot="5400000">
          <a:off x="6816183" y="566403"/>
          <a:ext cx="668848"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a:t>User Story: Correlate all artifacts into a single narrative.</a:t>
          </a:r>
        </a:p>
        <a:p>
          <a:pPr marL="114300" lvl="1" indent="-114300" algn="l" defTabSz="622300">
            <a:lnSpc>
              <a:spcPct val="90000"/>
            </a:lnSpc>
            <a:spcBef>
              <a:spcPct val="0"/>
            </a:spcBef>
            <a:spcAft>
              <a:spcPct val="15000"/>
            </a:spcAft>
            <a:buChar char="•"/>
          </a:pPr>
          <a:r>
            <a:rPr lang="en-US" sz="1400" kern="1200"/>
            <a:t>User Story: Produce a professional legal conclusion.</a:t>
          </a:r>
        </a:p>
      </dsp:txBody>
      <dsp:txXfrm rot="-5400000">
        <a:off x="3785615" y="3629621"/>
        <a:ext cx="6697334" cy="603548"/>
      </dsp:txXfrm>
    </dsp:sp>
    <dsp:sp modelId="{F6FE552A-FB5B-4ADD-B8B1-0BE5747A3A8E}">
      <dsp:nvSpPr>
        <dsp:cNvPr id="0" name=""/>
        <dsp:cNvSpPr/>
      </dsp:nvSpPr>
      <dsp:spPr>
        <a:xfrm>
          <a:off x="0" y="3513365"/>
          <a:ext cx="3785616" cy="8360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a:t>Milestone 5: Case Management (Timeline &amp; Final Report).</a:t>
          </a:r>
        </a:p>
      </dsp:txBody>
      <dsp:txXfrm>
        <a:off x="40813" y="3554178"/>
        <a:ext cx="3703990" cy="7544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B8B57E-5B7E-487F-8853-939E19B35A7D}">
      <dsp:nvSpPr>
        <dsp:cNvPr id="0" name=""/>
        <dsp:cNvSpPr/>
      </dsp:nvSpPr>
      <dsp:spPr>
        <a:xfrm>
          <a:off x="0" y="707092"/>
          <a:ext cx="10515600" cy="13054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95731D-AB3D-4E41-B4A1-C8C326197212}">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FCEFC6-7374-4736-849B-E8D4F4F8891A}">
      <dsp:nvSpPr>
        <dsp:cNvPr id="0" name=""/>
        <dsp:cNvSpPr/>
      </dsp:nvSpPr>
      <dsp:spPr>
        <a:xfrm>
          <a:off x="1507738" y="707092"/>
          <a:ext cx="4732020"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en-US" sz="2500" kern="1200"/>
            <a:t>Current Status:</a:t>
          </a:r>
        </a:p>
      </dsp:txBody>
      <dsp:txXfrm>
        <a:off x="1507738" y="707092"/>
        <a:ext cx="4732020" cy="1305401"/>
      </dsp:txXfrm>
    </dsp:sp>
    <dsp:sp modelId="{B699BC70-BD02-4AB8-BE6A-EEE790A3DA6B}">
      <dsp:nvSpPr>
        <dsp:cNvPr id="0" name=""/>
        <dsp:cNvSpPr/>
      </dsp:nvSpPr>
      <dsp:spPr>
        <a:xfrm>
          <a:off x="6239758" y="707092"/>
          <a:ext cx="427584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800100">
            <a:lnSpc>
              <a:spcPct val="100000"/>
            </a:lnSpc>
            <a:spcBef>
              <a:spcPct val="0"/>
            </a:spcBef>
            <a:spcAft>
              <a:spcPct val="35000"/>
            </a:spcAft>
            <a:buNone/>
          </a:pPr>
          <a:r>
            <a:rPr lang="en-US" sz="1800" kern="1200"/>
            <a:t>Investigation Complete</a:t>
          </a:r>
        </a:p>
      </dsp:txBody>
      <dsp:txXfrm>
        <a:off x="6239758" y="707092"/>
        <a:ext cx="4275841" cy="1305401"/>
      </dsp:txXfrm>
    </dsp:sp>
    <dsp:sp modelId="{ABC2AC42-BE79-41F7-977F-1E2B5B6C4088}">
      <dsp:nvSpPr>
        <dsp:cNvPr id="0" name=""/>
        <dsp:cNvSpPr/>
      </dsp:nvSpPr>
      <dsp:spPr>
        <a:xfrm>
          <a:off x="0" y="2338844"/>
          <a:ext cx="10515600" cy="13054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4CAABA-18D0-4909-8E7E-123F97413CBB}">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5C5DBB-570A-41FB-9B26-3442BDD3C86F}">
      <dsp:nvSpPr>
        <dsp:cNvPr id="0" name=""/>
        <dsp:cNvSpPr/>
      </dsp:nvSpPr>
      <dsp:spPr>
        <a:xfrm>
          <a:off x="1507738" y="2338844"/>
          <a:ext cx="4732020"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en-US" sz="2500" kern="1200"/>
            <a:t>Outcome:</a:t>
          </a:r>
        </a:p>
      </dsp:txBody>
      <dsp:txXfrm>
        <a:off x="1507738" y="2338844"/>
        <a:ext cx="4732020" cy="1305401"/>
      </dsp:txXfrm>
    </dsp:sp>
    <dsp:sp modelId="{8B98F0FB-ED1F-4063-A95F-D86020E2495A}">
      <dsp:nvSpPr>
        <dsp:cNvPr id="0" name=""/>
        <dsp:cNvSpPr/>
      </dsp:nvSpPr>
      <dsp:spPr>
        <a:xfrm>
          <a:off x="6239758" y="2338844"/>
          <a:ext cx="427584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800100">
            <a:lnSpc>
              <a:spcPct val="100000"/>
            </a:lnSpc>
            <a:spcBef>
              <a:spcPct val="0"/>
            </a:spcBef>
            <a:spcAft>
              <a:spcPct val="35000"/>
            </a:spcAft>
            <a:buNone/>
          </a:pPr>
          <a:r>
            <a:rPr lang="en-US" sz="1800" kern="1200"/>
            <a:t>All artifacts (Chat, Video, Web, USB) have been successfully recovered and correlated.</a:t>
          </a:r>
        </a:p>
      </dsp:txBody>
      <dsp:txXfrm>
        <a:off x="6239758" y="2338844"/>
        <a:ext cx="4275841" cy="130540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F9BA0F-1B83-4B9F-B5E8-3CC602DA79A2}" type="datetimeFigureOut">
              <a:rPr lang="en-US" smtClean="0"/>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567452-97A2-4CBB-A74E-46C876DF02B3}" type="slidenum">
              <a:rPr lang="en-US" smtClean="0"/>
              <a:t>‹nº›</a:t>
            </a:fld>
            <a:endParaRPr lang="en-US"/>
          </a:p>
        </p:txBody>
      </p:sp>
    </p:spTree>
    <p:extLst>
      <p:ext uri="{BB962C8B-B14F-4D97-AF65-F5344CB8AC3E}">
        <p14:creationId xmlns:p14="http://schemas.microsoft.com/office/powerpoint/2010/main" val="3108204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C6767-9CE9-127C-3E75-42A4EA9755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5D954-2DCD-FF1C-FC9F-0426820A33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1822C5-1C64-E4D0-AE37-420A6F11F527}"/>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Good morning. we are presenting our digital forensics investigation strategy for the case of </a:t>
            </a:r>
            <a:r>
              <a:rPr lang="en-US" sz="1200" b="1" kern="1200" dirty="0">
                <a:solidFill>
                  <a:schemeClr val="tx1"/>
                </a:solidFill>
                <a:effectLst/>
                <a:latin typeface="+mn-lt"/>
                <a:ea typeface="+mn-ea"/>
                <a:cs typeface="+mn-cs"/>
              </a:rPr>
              <a:t>State v. John Smith</a:t>
            </a:r>
            <a:r>
              <a:rPr lang="en-US" sz="1200" kern="1200" dirty="0">
                <a:solidFill>
                  <a:schemeClr val="tx1"/>
                </a:solidFill>
                <a:effectLst/>
                <a:latin typeface="+mn-lt"/>
                <a:ea typeface="+mn-ea"/>
                <a:cs typeface="+mn-cs"/>
              </a:rPr>
              <a:t>. My name is Seth, the Lead Investigator. I am joined by Luis, our Evidence Analyst, and Nicholas, our Documentation Lead. Our goal today is to outline the methodology we are using to analyze the suspect's digital footprint and determine the validity of the cyberbullying allegations.</a:t>
            </a:r>
            <a:endParaRPr lang="en-US" dirty="0"/>
          </a:p>
        </p:txBody>
      </p:sp>
      <p:sp>
        <p:nvSpPr>
          <p:cNvPr id="4" name="Slide Number Placeholder 3">
            <a:extLst>
              <a:ext uri="{FF2B5EF4-FFF2-40B4-BE49-F238E27FC236}">
                <a16:creationId xmlns:a16="http://schemas.microsoft.com/office/drawing/2014/main" id="{33FB67B8-4F93-BF06-C23C-E05774439BA7}"/>
              </a:ext>
            </a:extLst>
          </p:cNvPr>
          <p:cNvSpPr>
            <a:spLocks noGrp="1"/>
          </p:cNvSpPr>
          <p:nvPr>
            <p:ph type="sldNum" sz="quarter" idx="5"/>
          </p:nvPr>
        </p:nvSpPr>
        <p:spPr/>
        <p:txBody>
          <a:bodyPr/>
          <a:lstStyle/>
          <a:p>
            <a:fld id="{10567452-97A2-4CBB-A74E-46C876DF02B3}" type="slidenum">
              <a:rPr lang="en-US" smtClean="0"/>
              <a:t>1</a:t>
            </a:fld>
            <a:endParaRPr lang="en-US"/>
          </a:p>
        </p:txBody>
      </p:sp>
    </p:spTree>
    <p:extLst>
      <p:ext uri="{BB962C8B-B14F-4D97-AF65-F5344CB8AC3E}">
        <p14:creationId xmlns:p14="http://schemas.microsoft.com/office/powerpoint/2010/main" val="3257616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provide the technical context: We are analyzing a forensic image of a Windows 10 desktop belonging to the suspect, John Smith. The allegations involve the creation of a harassing video and the distribution of threats against Jane Doe. From an analyst's perspective, our targets are specific:</a:t>
            </a:r>
          </a:p>
          <a:p>
            <a:pPr lvl="0"/>
            <a:r>
              <a:rPr lang="en-US" sz="1200" b="1" kern="1200" dirty="0">
                <a:solidFill>
                  <a:schemeClr val="tx1"/>
                </a:solidFill>
                <a:effectLst/>
                <a:latin typeface="+mn-lt"/>
                <a:ea typeface="+mn-ea"/>
                <a:cs typeface="+mn-cs"/>
              </a:rPr>
              <a:t>Chat Logs:</a:t>
            </a:r>
            <a:r>
              <a:rPr lang="en-US" sz="1200" kern="1200" dirty="0">
                <a:solidFill>
                  <a:schemeClr val="tx1"/>
                </a:solidFill>
                <a:effectLst/>
                <a:latin typeface="+mn-lt"/>
                <a:ea typeface="+mn-ea"/>
                <a:cs typeface="+mn-cs"/>
              </a:rPr>
              <a:t> To find the threats.</a:t>
            </a:r>
          </a:p>
          <a:p>
            <a:pPr lvl="0"/>
            <a:r>
              <a:rPr lang="en-US" sz="1200" b="1" kern="1200" dirty="0">
                <a:solidFill>
                  <a:schemeClr val="tx1"/>
                </a:solidFill>
                <a:effectLst/>
                <a:latin typeface="+mn-lt"/>
                <a:ea typeface="+mn-ea"/>
                <a:cs typeface="+mn-cs"/>
              </a:rPr>
              <a:t>File System:</a:t>
            </a:r>
            <a:r>
              <a:rPr lang="en-US" sz="1200" kern="1200" dirty="0">
                <a:solidFill>
                  <a:schemeClr val="tx1"/>
                </a:solidFill>
                <a:effectLst/>
                <a:latin typeface="+mn-lt"/>
                <a:ea typeface="+mn-ea"/>
                <a:cs typeface="+mn-cs"/>
              </a:rPr>
              <a:t> To recover the deleted 'meme' video.</a:t>
            </a:r>
          </a:p>
          <a:p>
            <a:pPr lvl="0"/>
            <a:r>
              <a:rPr lang="en-US" sz="1200" b="1" kern="1200" dirty="0">
                <a:solidFill>
                  <a:schemeClr val="tx1"/>
                </a:solidFill>
                <a:effectLst/>
                <a:latin typeface="+mn-lt"/>
                <a:ea typeface="+mn-ea"/>
                <a:cs typeface="+mn-cs"/>
              </a:rPr>
              <a:t>Web History:</a:t>
            </a:r>
            <a:r>
              <a:rPr lang="en-US" sz="1200" kern="1200" dirty="0">
                <a:solidFill>
                  <a:schemeClr val="tx1"/>
                </a:solidFill>
                <a:effectLst/>
                <a:latin typeface="+mn-lt"/>
                <a:ea typeface="+mn-ea"/>
                <a:cs typeface="+mn-cs"/>
              </a:rPr>
              <a:t> To track the upload.</a:t>
            </a:r>
          </a:p>
          <a:p>
            <a:pPr lvl="0"/>
            <a:r>
              <a:rPr lang="en-US" sz="1200" b="1" kern="1200" dirty="0">
                <a:solidFill>
                  <a:schemeClr val="tx1"/>
                </a:solidFill>
                <a:effectLst/>
                <a:latin typeface="+mn-lt"/>
                <a:ea typeface="+mn-ea"/>
                <a:cs typeface="+mn-cs"/>
              </a:rPr>
              <a:t>Registry:</a:t>
            </a:r>
            <a:r>
              <a:rPr lang="en-US" sz="1200" kern="1200" dirty="0">
                <a:solidFill>
                  <a:schemeClr val="tx1"/>
                </a:solidFill>
                <a:effectLst/>
                <a:latin typeface="+mn-lt"/>
                <a:ea typeface="+mn-ea"/>
                <a:cs typeface="+mn-cs"/>
              </a:rPr>
              <a:t> To check for external device transfers."</a:t>
            </a:r>
          </a:p>
          <a:p>
            <a:endParaRPr lang="en-US" dirty="0"/>
          </a:p>
        </p:txBody>
      </p:sp>
      <p:sp>
        <p:nvSpPr>
          <p:cNvPr id="4" name="Slide Number Placeholder 3"/>
          <p:cNvSpPr>
            <a:spLocks noGrp="1"/>
          </p:cNvSpPr>
          <p:nvPr>
            <p:ph type="sldNum" sz="quarter" idx="5"/>
          </p:nvPr>
        </p:nvSpPr>
        <p:spPr/>
        <p:txBody>
          <a:bodyPr/>
          <a:lstStyle/>
          <a:p>
            <a:fld id="{10567452-97A2-4CBB-A74E-46C876DF02B3}" type="slidenum">
              <a:rPr lang="en-US" smtClean="0"/>
              <a:t>2</a:t>
            </a:fld>
            <a:endParaRPr lang="en-US"/>
          </a:p>
        </p:txBody>
      </p:sp>
    </p:spTree>
    <p:extLst>
      <p:ext uri="{BB962C8B-B14F-4D97-AF65-F5344CB8AC3E}">
        <p14:creationId xmlns:p14="http://schemas.microsoft.com/office/powerpoint/2010/main" val="293403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ensure a chain of custody and organized reporting, we have divided the investigation into five clear milestones.</a:t>
            </a:r>
          </a:p>
          <a:p>
            <a:pPr lvl="0"/>
            <a:r>
              <a:rPr lang="en-US" sz="1200" b="1" kern="1200" dirty="0">
                <a:solidFill>
                  <a:schemeClr val="tx1"/>
                </a:solidFill>
                <a:effectLst/>
                <a:latin typeface="+mn-lt"/>
                <a:ea typeface="+mn-ea"/>
                <a:cs typeface="+mn-cs"/>
              </a:rPr>
              <a:t>Milestone 1:</a:t>
            </a:r>
            <a:r>
              <a:rPr lang="en-US" sz="1200" kern="1200" dirty="0">
                <a:solidFill>
                  <a:schemeClr val="tx1"/>
                </a:solidFill>
                <a:effectLst/>
                <a:latin typeface="+mn-lt"/>
                <a:ea typeface="+mn-ea"/>
                <a:cs typeface="+mn-cs"/>
              </a:rPr>
              <a:t> Chat Analysis (Discord &amp; Steam).</a:t>
            </a:r>
          </a:p>
          <a:p>
            <a:pPr lvl="0"/>
            <a:r>
              <a:rPr lang="en-US" sz="1200" b="1" kern="1200" dirty="0">
                <a:solidFill>
                  <a:schemeClr val="tx1"/>
                </a:solidFill>
                <a:effectLst/>
                <a:latin typeface="+mn-lt"/>
                <a:ea typeface="+mn-ea"/>
                <a:cs typeface="+mn-cs"/>
              </a:rPr>
              <a:t>Milestone 2:</a:t>
            </a:r>
            <a:r>
              <a:rPr lang="en-US" sz="1200" kern="1200" dirty="0">
                <a:solidFill>
                  <a:schemeClr val="tx1"/>
                </a:solidFill>
                <a:effectLst/>
                <a:latin typeface="+mn-lt"/>
                <a:ea typeface="+mn-ea"/>
                <a:cs typeface="+mn-cs"/>
              </a:rPr>
              <a:t> Media Forensics (Video Recovery).</a:t>
            </a:r>
          </a:p>
          <a:p>
            <a:pPr lvl="0"/>
            <a:r>
              <a:rPr lang="en-US" sz="1200" b="1" kern="1200" dirty="0">
                <a:solidFill>
                  <a:schemeClr val="tx1"/>
                </a:solidFill>
                <a:effectLst/>
                <a:latin typeface="+mn-lt"/>
                <a:ea typeface="+mn-ea"/>
                <a:cs typeface="+mn-cs"/>
              </a:rPr>
              <a:t>Milestone 3:</a:t>
            </a:r>
            <a:r>
              <a:rPr lang="en-US" sz="1200" kern="1200" dirty="0">
                <a:solidFill>
                  <a:schemeClr val="tx1"/>
                </a:solidFill>
                <a:effectLst/>
                <a:latin typeface="+mn-lt"/>
                <a:ea typeface="+mn-ea"/>
                <a:cs typeface="+mn-cs"/>
              </a:rPr>
              <a:t> Web Activity.</a:t>
            </a:r>
          </a:p>
          <a:p>
            <a:pPr lvl="0"/>
            <a:r>
              <a:rPr lang="en-US" sz="1200" b="1" kern="1200" dirty="0">
                <a:solidFill>
                  <a:schemeClr val="tx1"/>
                </a:solidFill>
                <a:effectLst/>
                <a:latin typeface="+mn-lt"/>
                <a:ea typeface="+mn-ea"/>
                <a:cs typeface="+mn-cs"/>
              </a:rPr>
              <a:t>Milestone 4:</a:t>
            </a:r>
            <a:r>
              <a:rPr lang="en-US" sz="1200" kern="1200" dirty="0">
                <a:solidFill>
                  <a:schemeClr val="tx1"/>
                </a:solidFill>
                <a:effectLst/>
                <a:latin typeface="+mn-lt"/>
                <a:ea typeface="+mn-ea"/>
                <a:cs typeface="+mn-cs"/>
              </a:rPr>
              <a:t> Device History.</a:t>
            </a:r>
          </a:p>
          <a:p>
            <a:pPr lvl="0"/>
            <a:r>
              <a:rPr lang="en-US" sz="1200" b="1" kern="1200" dirty="0">
                <a:solidFill>
                  <a:schemeClr val="tx1"/>
                </a:solidFill>
                <a:effectLst/>
                <a:latin typeface="+mn-lt"/>
                <a:ea typeface="+mn-ea"/>
                <a:cs typeface="+mn-cs"/>
              </a:rPr>
              <a:t>Milestone 5:</a:t>
            </a:r>
            <a:r>
              <a:rPr lang="en-US" sz="1200" kern="1200" dirty="0">
                <a:solidFill>
                  <a:schemeClr val="tx1"/>
                </a:solidFill>
                <a:effectLst/>
                <a:latin typeface="+mn-lt"/>
                <a:ea typeface="+mn-ea"/>
                <a:cs typeface="+mn-cs"/>
              </a:rPr>
              <a:t> Final Reporting. This structure ensures every artifact we analyze is properly documented and correlates to the specific allegations."</a:t>
            </a:r>
          </a:p>
          <a:p>
            <a:endParaRPr lang="en-US" dirty="0"/>
          </a:p>
        </p:txBody>
      </p:sp>
      <p:sp>
        <p:nvSpPr>
          <p:cNvPr id="4" name="Slide Number Placeholder 3"/>
          <p:cNvSpPr>
            <a:spLocks noGrp="1"/>
          </p:cNvSpPr>
          <p:nvPr>
            <p:ph type="sldNum" sz="quarter" idx="5"/>
          </p:nvPr>
        </p:nvSpPr>
        <p:spPr/>
        <p:txBody>
          <a:bodyPr/>
          <a:lstStyle/>
          <a:p>
            <a:fld id="{10567452-97A2-4CBB-A74E-46C876DF02B3}" type="slidenum">
              <a:rPr lang="en-US" smtClean="0"/>
              <a:t>3</a:t>
            </a:fld>
            <a:endParaRPr lang="en-US"/>
          </a:p>
        </p:txBody>
      </p:sp>
    </p:spTree>
    <p:extLst>
      <p:ext uri="{BB962C8B-B14F-4D97-AF65-F5344CB8AC3E}">
        <p14:creationId xmlns:p14="http://schemas.microsoft.com/office/powerpoint/2010/main" val="1775040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start with Milestone 1: Discord Analysis. This is where the primary threats allegedly occurred. My focus here is on the narrative analysis. Once the data is extracted, I am using </a:t>
            </a:r>
            <a:r>
              <a:rPr lang="en-US" sz="1200" b="1" kern="1200" dirty="0">
                <a:solidFill>
                  <a:schemeClr val="tx1"/>
                </a:solidFill>
                <a:effectLst/>
                <a:latin typeface="+mn-lt"/>
                <a:ea typeface="+mn-ea"/>
                <a:cs typeface="+mn-cs"/>
              </a:rPr>
              <a:t>DB Browser for SQLite</a:t>
            </a:r>
            <a:r>
              <a:rPr lang="en-US" sz="1200" kern="1200" dirty="0">
                <a:solidFill>
                  <a:schemeClr val="tx1"/>
                </a:solidFill>
                <a:effectLst/>
                <a:latin typeface="+mn-lt"/>
                <a:ea typeface="+mn-ea"/>
                <a:cs typeface="+mn-cs"/>
              </a:rPr>
              <a:t> to query the message databases. We are filtering specifically for the date range of October 2025 and running SQL queries for keywords like 'Jane Doe' to isolate the specific messages proving intent to harass."</a:t>
            </a:r>
          </a:p>
          <a:p>
            <a:endParaRPr lang="en-US" dirty="0"/>
          </a:p>
        </p:txBody>
      </p:sp>
      <p:sp>
        <p:nvSpPr>
          <p:cNvPr id="4" name="Slide Number Placeholder 3"/>
          <p:cNvSpPr>
            <a:spLocks noGrp="1"/>
          </p:cNvSpPr>
          <p:nvPr>
            <p:ph type="sldNum" sz="quarter" idx="5"/>
          </p:nvPr>
        </p:nvSpPr>
        <p:spPr/>
        <p:txBody>
          <a:bodyPr/>
          <a:lstStyle/>
          <a:p>
            <a:fld id="{10567452-97A2-4CBB-A74E-46C876DF02B3}" type="slidenum">
              <a:rPr lang="en-US" smtClean="0"/>
              <a:t>4</a:t>
            </a:fld>
            <a:endParaRPr lang="en-US"/>
          </a:p>
        </p:txBody>
      </p:sp>
    </p:spTree>
    <p:extLst>
      <p:ext uri="{BB962C8B-B14F-4D97-AF65-F5344CB8AC3E}">
        <p14:creationId xmlns:p14="http://schemas.microsoft.com/office/powerpoint/2010/main" val="280622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Seth handles the Discord queries, I am handling the extraction of the Steam client data. I will navigate to the Steam\</a:t>
            </a:r>
            <a:r>
              <a:rPr lang="en-US" sz="1200" kern="1200" dirty="0" err="1">
                <a:solidFill>
                  <a:schemeClr val="tx1"/>
                </a:solidFill>
                <a:effectLst/>
                <a:latin typeface="+mn-lt"/>
                <a:ea typeface="+mn-ea"/>
                <a:cs typeface="+mn-cs"/>
              </a:rPr>
              <a:t>userdata</a:t>
            </a:r>
            <a:r>
              <a:rPr lang="en-US" sz="1200" kern="1200" dirty="0">
                <a:solidFill>
                  <a:schemeClr val="tx1"/>
                </a:solidFill>
                <a:effectLst/>
                <a:latin typeface="+mn-lt"/>
                <a:ea typeface="+mn-ea"/>
                <a:cs typeface="+mn-cs"/>
              </a:rPr>
              <a:t> directory on the disk image to locate John Smith's unique ID folder. The goal here is to identify if the harassment extended into gaming sessions. I will extract the log files and run text-based searches to find any mention of the video or the victim, ensuring we capture the full scope of his digital communication."</a:t>
            </a:r>
            <a:endParaRPr lang="en-US" dirty="0"/>
          </a:p>
        </p:txBody>
      </p:sp>
      <p:sp>
        <p:nvSpPr>
          <p:cNvPr id="4" name="Slide Number Placeholder 3"/>
          <p:cNvSpPr>
            <a:spLocks noGrp="1"/>
          </p:cNvSpPr>
          <p:nvPr>
            <p:ph type="sldNum" sz="quarter" idx="5"/>
          </p:nvPr>
        </p:nvSpPr>
        <p:spPr/>
        <p:txBody>
          <a:bodyPr/>
          <a:lstStyle/>
          <a:p>
            <a:fld id="{10567452-97A2-4CBB-A74E-46C876DF02B3}" type="slidenum">
              <a:rPr lang="en-US" smtClean="0"/>
              <a:t>5</a:t>
            </a:fld>
            <a:endParaRPr lang="en-US"/>
          </a:p>
        </p:txBody>
      </p:sp>
    </p:spTree>
    <p:extLst>
      <p:ext uri="{BB962C8B-B14F-4D97-AF65-F5344CB8AC3E}">
        <p14:creationId xmlns:p14="http://schemas.microsoft.com/office/powerpoint/2010/main" val="1301764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Moving to Milestone 2: Recovering the 'Meme' Video. Since the file was reported deleted, our team is documenting the recovery process carefully. We are using </a:t>
            </a:r>
            <a:r>
              <a:rPr lang="en-US" sz="1200" b="1" kern="1200" dirty="0">
                <a:solidFill>
                  <a:schemeClr val="tx1"/>
                </a:solidFill>
                <a:effectLst/>
                <a:latin typeface="+mn-lt"/>
                <a:ea typeface="+mn-ea"/>
                <a:cs typeface="+mn-cs"/>
              </a:rPr>
              <a:t>Scalpel</a:t>
            </a:r>
            <a:r>
              <a:rPr lang="en-US" sz="1200" kern="1200" dirty="0">
                <a:solidFill>
                  <a:schemeClr val="tx1"/>
                </a:solidFill>
                <a:effectLst/>
                <a:latin typeface="+mn-lt"/>
                <a:ea typeface="+mn-ea"/>
                <a:cs typeface="+mn-cs"/>
              </a:rPr>
              <a:t> to carve unallocated space, searching specifically for video headers. If a hash was provided in the complaint, we are also verifying any recovered files against that SHA-256 hash to confirm we have found the correct piece of evidence for the report."</a:t>
            </a:r>
            <a:endParaRPr lang="en-US" dirty="0"/>
          </a:p>
        </p:txBody>
      </p:sp>
      <p:sp>
        <p:nvSpPr>
          <p:cNvPr id="4" name="Slide Number Placeholder 3"/>
          <p:cNvSpPr>
            <a:spLocks noGrp="1"/>
          </p:cNvSpPr>
          <p:nvPr>
            <p:ph type="sldNum" sz="quarter" idx="5"/>
          </p:nvPr>
        </p:nvSpPr>
        <p:spPr/>
        <p:txBody>
          <a:bodyPr/>
          <a:lstStyle/>
          <a:p>
            <a:fld id="{10567452-97A2-4CBB-A74E-46C876DF02B3}" type="slidenum">
              <a:rPr lang="en-US" smtClean="0"/>
              <a:t>6</a:t>
            </a:fld>
            <a:endParaRPr lang="en-US"/>
          </a:p>
        </p:txBody>
      </p:sp>
    </p:spTree>
    <p:extLst>
      <p:ext uri="{BB962C8B-B14F-4D97-AF65-F5344CB8AC3E}">
        <p14:creationId xmlns:p14="http://schemas.microsoft.com/office/powerpoint/2010/main" val="514931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Recovering the video is step one; proving John Smith made it is step two. I am analyzing the correlation between the video file and the system's execution history. We are looking at the </a:t>
            </a:r>
            <a:r>
              <a:rPr lang="en-US" sz="1200" b="1" kern="1200" dirty="0">
                <a:solidFill>
                  <a:schemeClr val="tx1"/>
                </a:solidFill>
                <a:effectLst/>
                <a:latin typeface="+mn-lt"/>
                <a:ea typeface="+mn-ea"/>
                <a:cs typeface="+mn-cs"/>
              </a:rPr>
              <a:t>Prefetch</a:t>
            </a:r>
            <a:r>
              <a:rPr lang="en-US" sz="1200" kern="1200" dirty="0">
                <a:solidFill>
                  <a:schemeClr val="tx1"/>
                </a:solidFill>
                <a:effectLst/>
                <a:latin typeface="+mn-lt"/>
                <a:ea typeface="+mn-ea"/>
                <a:cs typeface="+mn-cs"/>
              </a:rPr>
              <a:t> files. If I see that video editing software—like DaVinci Resolve—was executed minutes before the video creation timestamp, that helps us establish a timeline of </a:t>
            </a:r>
            <a:r>
              <a:rPr lang="en-US" sz="1200" i="1" kern="1200" dirty="0">
                <a:solidFill>
                  <a:schemeClr val="tx1"/>
                </a:solidFill>
                <a:effectLst/>
                <a:latin typeface="+mn-lt"/>
                <a:ea typeface="+mn-ea"/>
                <a:cs typeface="+mn-cs"/>
              </a:rPr>
              <a:t>intent</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creation</a:t>
            </a:r>
            <a:r>
              <a:rPr lang="en-US" sz="1200" kern="1200" dirty="0">
                <a:solidFill>
                  <a:schemeClr val="tx1"/>
                </a:solidFill>
                <a:effectLst/>
                <a:latin typeface="+mn-lt"/>
                <a:ea typeface="+mn-ea"/>
                <a:cs typeface="+mn-cs"/>
              </a:rPr>
              <a:t> directly tied to this user account</a:t>
            </a:r>
            <a:endParaRPr lang="en-US" dirty="0"/>
          </a:p>
        </p:txBody>
      </p:sp>
      <p:sp>
        <p:nvSpPr>
          <p:cNvPr id="4" name="Slide Number Placeholder 3"/>
          <p:cNvSpPr>
            <a:spLocks noGrp="1"/>
          </p:cNvSpPr>
          <p:nvPr>
            <p:ph type="sldNum" sz="quarter" idx="5"/>
          </p:nvPr>
        </p:nvSpPr>
        <p:spPr/>
        <p:txBody>
          <a:bodyPr/>
          <a:lstStyle/>
          <a:p>
            <a:fld id="{10567452-97A2-4CBB-A74E-46C876DF02B3}" type="slidenum">
              <a:rPr lang="en-US" smtClean="0"/>
              <a:t>7</a:t>
            </a:fld>
            <a:endParaRPr lang="en-US"/>
          </a:p>
        </p:txBody>
      </p:sp>
    </p:spTree>
    <p:extLst>
      <p:ext uri="{BB962C8B-B14F-4D97-AF65-F5344CB8AC3E}">
        <p14:creationId xmlns:p14="http://schemas.microsoft.com/office/powerpoint/2010/main" val="1724058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Milestone 3, I am digging into the browser artifacts to trace distribution. I am extracting history databases from Chrome and Edge. My technical task is to parse these databases and the browser cache. I am looking for two things:</a:t>
            </a:r>
          </a:p>
          <a:p>
            <a:pPr lvl="0"/>
            <a:r>
              <a:rPr lang="en-US" sz="1200" kern="1200" dirty="0">
                <a:solidFill>
                  <a:schemeClr val="tx1"/>
                </a:solidFill>
                <a:effectLst/>
                <a:latin typeface="+mn-lt"/>
                <a:ea typeface="+mn-ea"/>
                <a:cs typeface="+mn-cs"/>
              </a:rPr>
              <a:t>Visits to upload sites like YouTube or Google Drive.</a:t>
            </a:r>
          </a:p>
          <a:p>
            <a:pPr lvl="0"/>
            <a:r>
              <a:rPr lang="en-US" sz="1200" kern="1200" dirty="0">
                <a:solidFill>
                  <a:schemeClr val="tx1"/>
                </a:solidFill>
                <a:effectLst/>
                <a:latin typeface="+mn-lt"/>
                <a:ea typeface="+mn-ea"/>
                <a:cs typeface="+mn-cs"/>
              </a:rPr>
              <a:t>Cached thumbnails of the video, which proves the file was rendered in the browser for an upload."</a:t>
            </a:r>
          </a:p>
          <a:p>
            <a:endParaRPr lang="en-US" dirty="0"/>
          </a:p>
        </p:txBody>
      </p:sp>
      <p:sp>
        <p:nvSpPr>
          <p:cNvPr id="4" name="Slide Number Placeholder 3"/>
          <p:cNvSpPr>
            <a:spLocks noGrp="1"/>
          </p:cNvSpPr>
          <p:nvPr>
            <p:ph type="sldNum" sz="quarter" idx="5"/>
          </p:nvPr>
        </p:nvSpPr>
        <p:spPr/>
        <p:txBody>
          <a:bodyPr/>
          <a:lstStyle/>
          <a:p>
            <a:fld id="{10567452-97A2-4CBB-A74E-46C876DF02B3}" type="slidenum">
              <a:rPr lang="en-US" smtClean="0"/>
              <a:t>8</a:t>
            </a:fld>
            <a:endParaRPr lang="en-US"/>
          </a:p>
        </p:txBody>
      </p:sp>
    </p:spTree>
    <p:extLst>
      <p:ext uri="{BB962C8B-B14F-4D97-AF65-F5344CB8AC3E}">
        <p14:creationId xmlns:p14="http://schemas.microsoft.com/office/powerpoint/2010/main" val="2780093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Milestone 4 covers Physical Distribution. I am documenting the registry analysis to determine if the video was moved offline. We are examining the </a:t>
            </a:r>
            <a:r>
              <a:rPr lang="en-US" sz="1200" b="1" kern="1200" dirty="0">
                <a:solidFill>
                  <a:schemeClr val="tx1"/>
                </a:solidFill>
                <a:effectLst/>
                <a:latin typeface="+mn-lt"/>
                <a:ea typeface="+mn-ea"/>
                <a:cs typeface="+mn-cs"/>
              </a:rPr>
              <a:t>SYSTEM Hive</a:t>
            </a:r>
            <a:r>
              <a:rPr lang="en-US" sz="1200" kern="1200" dirty="0">
                <a:solidFill>
                  <a:schemeClr val="tx1"/>
                </a:solidFill>
                <a:effectLst/>
                <a:latin typeface="+mn-lt"/>
                <a:ea typeface="+mn-ea"/>
                <a:cs typeface="+mn-cs"/>
              </a:rPr>
              <a:t> to list all connected USB devices and their serial numbers. I will then cross-reference this with the </a:t>
            </a:r>
            <a:r>
              <a:rPr lang="en-US" sz="1200" b="1" kern="1200" dirty="0">
                <a:solidFill>
                  <a:schemeClr val="tx1"/>
                </a:solidFill>
                <a:effectLst/>
                <a:latin typeface="+mn-lt"/>
                <a:ea typeface="+mn-ea"/>
                <a:cs typeface="+mn-cs"/>
              </a:rPr>
              <a:t>NTUSER.DAT</a:t>
            </a:r>
            <a:r>
              <a:rPr lang="en-US" sz="1200" kern="1200" dirty="0">
                <a:solidFill>
                  <a:schemeClr val="tx1"/>
                </a:solidFill>
                <a:effectLst/>
                <a:latin typeface="+mn-lt"/>
                <a:ea typeface="+mn-ea"/>
                <a:cs typeface="+mn-cs"/>
              </a:rPr>
              <a:t> hive to see if those specific drives were mounted by John Smith's user account during the timeframe of the harassment."</a:t>
            </a:r>
            <a:endParaRPr lang="en-US" dirty="0"/>
          </a:p>
        </p:txBody>
      </p:sp>
      <p:sp>
        <p:nvSpPr>
          <p:cNvPr id="4" name="Slide Number Placeholder 3"/>
          <p:cNvSpPr>
            <a:spLocks noGrp="1"/>
          </p:cNvSpPr>
          <p:nvPr>
            <p:ph type="sldNum" sz="quarter" idx="5"/>
          </p:nvPr>
        </p:nvSpPr>
        <p:spPr/>
        <p:txBody>
          <a:bodyPr/>
          <a:lstStyle/>
          <a:p>
            <a:fld id="{10567452-97A2-4CBB-A74E-46C876DF02B3}" type="slidenum">
              <a:rPr lang="en-US" smtClean="0"/>
              <a:t>9</a:t>
            </a:fld>
            <a:endParaRPr lang="en-US"/>
          </a:p>
        </p:txBody>
      </p:sp>
    </p:spTree>
    <p:extLst>
      <p:ext uri="{BB962C8B-B14F-4D97-AF65-F5344CB8AC3E}">
        <p14:creationId xmlns:p14="http://schemas.microsoft.com/office/powerpoint/2010/main" val="366779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All of this brings us to Milestone 5: The Master Timeline. This is where we build the case narrative. I am taking the data from the Chat logs, the Video metadata, the Browser history, and the USB registry, and aligning them chronologically. This allows us to present a 'smoking gun' sequence to the court: showing exactly when he opened the editor, created the video, and sent the threatening message."</a:t>
            </a:r>
            <a:endParaRPr lang="en-US" dirty="0"/>
          </a:p>
        </p:txBody>
      </p:sp>
      <p:sp>
        <p:nvSpPr>
          <p:cNvPr id="4" name="Slide Number Placeholder 3"/>
          <p:cNvSpPr>
            <a:spLocks noGrp="1"/>
          </p:cNvSpPr>
          <p:nvPr>
            <p:ph type="sldNum" sz="quarter" idx="5"/>
          </p:nvPr>
        </p:nvSpPr>
        <p:spPr/>
        <p:txBody>
          <a:bodyPr/>
          <a:lstStyle/>
          <a:p>
            <a:fld id="{10567452-97A2-4CBB-A74E-46C876DF02B3}" type="slidenum">
              <a:rPr lang="en-US" smtClean="0"/>
              <a:t>10</a:t>
            </a:fld>
            <a:endParaRPr lang="en-US"/>
          </a:p>
        </p:txBody>
      </p:sp>
    </p:spTree>
    <p:extLst>
      <p:ext uri="{BB962C8B-B14F-4D97-AF65-F5344CB8AC3E}">
        <p14:creationId xmlns:p14="http://schemas.microsoft.com/office/powerpoint/2010/main" val="12046963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ensuring the technical accuracy of our Final Report. We are compiling the 'Findings' section, which summarizes the artifacts I've extracted. Crucially, I am ensuring that every technical claim is backed by raw data—exporting the CSVs of the chat logs and the hex dumps of the registry keys—so that our forensic conclusion is technically irrefutable."</a:t>
            </a:r>
            <a:endParaRPr lang="en-US" dirty="0"/>
          </a:p>
        </p:txBody>
      </p:sp>
      <p:sp>
        <p:nvSpPr>
          <p:cNvPr id="4" name="Slide Number Placeholder 3"/>
          <p:cNvSpPr>
            <a:spLocks noGrp="1"/>
          </p:cNvSpPr>
          <p:nvPr>
            <p:ph type="sldNum" sz="quarter" idx="5"/>
          </p:nvPr>
        </p:nvSpPr>
        <p:spPr/>
        <p:txBody>
          <a:bodyPr/>
          <a:lstStyle/>
          <a:p>
            <a:fld id="{10567452-97A2-4CBB-A74E-46C876DF02B3}" type="slidenum">
              <a:rPr lang="en-US" smtClean="0"/>
              <a:t>11</a:t>
            </a:fld>
            <a:endParaRPr lang="en-US"/>
          </a:p>
        </p:txBody>
      </p:sp>
    </p:spTree>
    <p:extLst>
      <p:ext uri="{BB962C8B-B14F-4D97-AF65-F5344CB8AC3E}">
        <p14:creationId xmlns:p14="http://schemas.microsoft.com/office/powerpoint/2010/main" val="3306793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conclusion, I am pleased to report that the investigation is now fully complete.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We have successfully executed all phases of the project.</a:t>
            </a:r>
            <a:endParaRPr lang="en-US" dirty="0"/>
          </a:p>
        </p:txBody>
      </p:sp>
      <p:sp>
        <p:nvSpPr>
          <p:cNvPr id="4" name="Slide Number Placeholder 3"/>
          <p:cNvSpPr>
            <a:spLocks noGrp="1"/>
          </p:cNvSpPr>
          <p:nvPr>
            <p:ph type="sldNum" sz="quarter" idx="5"/>
          </p:nvPr>
        </p:nvSpPr>
        <p:spPr/>
        <p:txBody>
          <a:bodyPr/>
          <a:lstStyle/>
          <a:p>
            <a:fld id="{10567452-97A2-4CBB-A74E-46C876DF02B3}" type="slidenum">
              <a:rPr lang="en-US" smtClean="0"/>
              <a:t>12</a:t>
            </a:fld>
            <a:endParaRPr lang="en-US"/>
          </a:p>
        </p:txBody>
      </p:sp>
    </p:spTree>
    <p:extLst>
      <p:ext uri="{BB962C8B-B14F-4D97-AF65-F5344CB8AC3E}">
        <p14:creationId xmlns:p14="http://schemas.microsoft.com/office/powerpoint/2010/main" val="2117236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87BB8-497E-F54B-0C8D-71FABD0BFC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150D1E-A5F2-4997-1178-BC60740812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FDE514F-310B-B896-F3B7-2A60D716C968}"/>
              </a:ext>
            </a:extLst>
          </p:cNvPr>
          <p:cNvSpPr>
            <a:spLocks noGrp="1"/>
          </p:cNvSpPr>
          <p:nvPr>
            <p:ph type="dt" sz="half" idx="10"/>
          </p:nvPr>
        </p:nvSpPr>
        <p:spPr/>
        <p:txBody>
          <a:bodyPr/>
          <a:lstStyle/>
          <a:p>
            <a:fld id="{BC3B0340-DF4E-4612-BDC6-DED8B56CED3F}" type="datetimeFigureOut">
              <a:rPr lang="en-US" smtClean="0"/>
              <a:t>12/10/2025</a:t>
            </a:fld>
            <a:endParaRPr lang="en-US"/>
          </a:p>
        </p:txBody>
      </p:sp>
      <p:sp>
        <p:nvSpPr>
          <p:cNvPr id="5" name="Footer Placeholder 4">
            <a:extLst>
              <a:ext uri="{FF2B5EF4-FFF2-40B4-BE49-F238E27FC236}">
                <a16:creationId xmlns:a16="http://schemas.microsoft.com/office/drawing/2014/main" id="{D4501316-44F3-F482-9F21-EE147EB16C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A5C1DE-4CAD-BDC1-A0F5-EFBE651A428B}"/>
              </a:ext>
            </a:extLst>
          </p:cNvPr>
          <p:cNvSpPr>
            <a:spLocks noGrp="1"/>
          </p:cNvSpPr>
          <p:nvPr>
            <p:ph type="sldNum" sz="quarter" idx="12"/>
          </p:nvPr>
        </p:nvSpPr>
        <p:spPr/>
        <p:txBody>
          <a:bodyPr/>
          <a:lstStyle/>
          <a:p>
            <a:fld id="{F7B132EC-7D1B-4EBE-B4F9-F48D3B0F1172}" type="slidenum">
              <a:rPr lang="en-US" smtClean="0"/>
              <a:t>‹nº›</a:t>
            </a:fld>
            <a:endParaRPr lang="en-US"/>
          </a:p>
        </p:txBody>
      </p:sp>
    </p:spTree>
    <p:extLst>
      <p:ext uri="{BB962C8B-B14F-4D97-AF65-F5344CB8AC3E}">
        <p14:creationId xmlns:p14="http://schemas.microsoft.com/office/powerpoint/2010/main" val="2633108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0BF11-B51D-45E5-641D-538CD80730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32D266-0AEC-4E20-282C-5D930BC05F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6F5F49-8EB3-6299-8C47-DCD034B6C0E2}"/>
              </a:ext>
            </a:extLst>
          </p:cNvPr>
          <p:cNvSpPr>
            <a:spLocks noGrp="1"/>
          </p:cNvSpPr>
          <p:nvPr>
            <p:ph type="dt" sz="half" idx="10"/>
          </p:nvPr>
        </p:nvSpPr>
        <p:spPr/>
        <p:txBody>
          <a:bodyPr/>
          <a:lstStyle/>
          <a:p>
            <a:fld id="{BC3B0340-DF4E-4612-BDC6-DED8B56CED3F}" type="datetimeFigureOut">
              <a:rPr lang="en-US" smtClean="0"/>
              <a:t>12/10/2025</a:t>
            </a:fld>
            <a:endParaRPr lang="en-US"/>
          </a:p>
        </p:txBody>
      </p:sp>
      <p:sp>
        <p:nvSpPr>
          <p:cNvPr id="5" name="Footer Placeholder 4">
            <a:extLst>
              <a:ext uri="{FF2B5EF4-FFF2-40B4-BE49-F238E27FC236}">
                <a16:creationId xmlns:a16="http://schemas.microsoft.com/office/drawing/2014/main" id="{A165519E-D8EF-0886-238C-866459341C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307D12-5868-1DE7-717E-5D1F504D891C}"/>
              </a:ext>
            </a:extLst>
          </p:cNvPr>
          <p:cNvSpPr>
            <a:spLocks noGrp="1"/>
          </p:cNvSpPr>
          <p:nvPr>
            <p:ph type="sldNum" sz="quarter" idx="12"/>
          </p:nvPr>
        </p:nvSpPr>
        <p:spPr/>
        <p:txBody>
          <a:bodyPr/>
          <a:lstStyle/>
          <a:p>
            <a:fld id="{F7B132EC-7D1B-4EBE-B4F9-F48D3B0F1172}" type="slidenum">
              <a:rPr lang="en-US" smtClean="0"/>
              <a:t>‹nº›</a:t>
            </a:fld>
            <a:endParaRPr lang="en-US"/>
          </a:p>
        </p:txBody>
      </p:sp>
    </p:spTree>
    <p:extLst>
      <p:ext uri="{BB962C8B-B14F-4D97-AF65-F5344CB8AC3E}">
        <p14:creationId xmlns:p14="http://schemas.microsoft.com/office/powerpoint/2010/main" val="2661618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03BA1-2BEF-0A1B-4882-332806B8DD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AE88DD-F0E8-D050-8424-E943378F9A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D4C42C-006B-A888-F0B6-7DE6D6DD058A}"/>
              </a:ext>
            </a:extLst>
          </p:cNvPr>
          <p:cNvSpPr>
            <a:spLocks noGrp="1"/>
          </p:cNvSpPr>
          <p:nvPr>
            <p:ph type="dt" sz="half" idx="10"/>
          </p:nvPr>
        </p:nvSpPr>
        <p:spPr/>
        <p:txBody>
          <a:bodyPr/>
          <a:lstStyle/>
          <a:p>
            <a:fld id="{BC3B0340-DF4E-4612-BDC6-DED8B56CED3F}" type="datetimeFigureOut">
              <a:rPr lang="en-US" smtClean="0"/>
              <a:t>12/10/2025</a:t>
            </a:fld>
            <a:endParaRPr lang="en-US"/>
          </a:p>
        </p:txBody>
      </p:sp>
      <p:sp>
        <p:nvSpPr>
          <p:cNvPr id="5" name="Footer Placeholder 4">
            <a:extLst>
              <a:ext uri="{FF2B5EF4-FFF2-40B4-BE49-F238E27FC236}">
                <a16:creationId xmlns:a16="http://schemas.microsoft.com/office/drawing/2014/main" id="{04D5E9F8-670E-859F-B0D4-2280AA9CBF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195B76-5311-90F2-B01B-3F483CA20C6E}"/>
              </a:ext>
            </a:extLst>
          </p:cNvPr>
          <p:cNvSpPr>
            <a:spLocks noGrp="1"/>
          </p:cNvSpPr>
          <p:nvPr>
            <p:ph type="sldNum" sz="quarter" idx="12"/>
          </p:nvPr>
        </p:nvSpPr>
        <p:spPr/>
        <p:txBody>
          <a:bodyPr/>
          <a:lstStyle/>
          <a:p>
            <a:fld id="{F7B132EC-7D1B-4EBE-B4F9-F48D3B0F1172}" type="slidenum">
              <a:rPr lang="en-US" smtClean="0"/>
              <a:t>‹nº›</a:t>
            </a:fld>
            <a:endParaRPr lang="en-US"/>
          </a:p>
        </p:txBody>
      </p:sp>
    </p:spTree>
    <p:extLst>
      <p:ext uri="{BB962C8B-B14F-4D97-AF65-F5344CB8AC3E}">
        <p14:creationId xmlns:p14="http://schemas.microsoft.com/office/powerpoint/2010/main" val="3785323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A8CE7-55CE-08C2-FA60-FEB85CDC53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10248-2250-6A6C-8BEA-FB218B42D1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493D1B-8725-D462-AC95-E045C3BA61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A154FD-ED6F-0099-C116-7E387F959324}"/>
              </a:ext>
            </a:extLst>
          </p:cNvPr>
          <p:cNvSpPr>
            <a:spLocks noGrp="1"/>
          </p:cNvSpPr>
          <p:nvPr>
            <p:ph type="dt" sz="half" idx="10"/>
          </p:nvPr>
        </p:nvSpPr>
        <p:spPr/>
        <p:txBody>
          <a:bodyPr/>
          <a:lstStyle/>
          <a:p>
            <a:fld id="{BC3B0340-DF4E-4612-BDC6-DED8B56CED3F}" type="datetimeFigureOut">
              <a:rPr lang="en-US" smtClean="0"/>
              <a:t>12/10/2025</a:t>
            </a:fld>
            <a:endParaRPr lang="en-US"/>
          </a:p>
        </p:txBody>
      </p:sp>
      <p:sp>
        <p:nvSpPr>
          <p:cNvPr id="6" name="Footer Placeholder 5">
            <a:extLst>
              <a:ext uri="{FF2B5EF4-FFF2-40B4-BE49-F238E27FC236}">
                <a16:creationId xmlns:a16="http://schemas.microsoft.com/office/drawing/2014/main" id="{91A95B78-9761-5C7D-84D2-507696FAFF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910B48-7522-E2C3-FEFE-4D5C507A5917}"/>
              </a:ext>
            </a:extLst>
          </p:cNvPr>
          <p:cNvSpPr>
            <a:spLocks noGrp="1"/>
          </p:cNvSpPr>
          <p:nvPr>
            <p:ph type="sldNum" sz="quarter" idx="12"/>
          </p:nvPr>
        </p:nvSpPr>
        <p:spPr/>
        <p:txBody>
          <a:bodyPr/>
          <a:lstStyle/>
          <a:p>
            <a:fld id="{F7B132EC-7D1B-4EBE-B4F9-F48D3B0F1172}" type="slidenum">
              <a:rPr lang="en-US" smtClean="0"/>
              <a:t>‹nº›</a:t>
            </a:fld>
            <a:endParaRPr lang="en-US"/>
          </a:p>
        </p:txBody>
      </p:sp>
    </p:spTree>
    <p:extLst>
      <p:ext uri="{BB962C8B-B14F-4D97-AF65-F5344CB8AC3E}">
        <p14:creationId xmlns:p14="http://schemas.microsoft.com/office/powerpoint/2010/main" val="3223174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005F8-A31D-ED09-BCC2-EEDB905A85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AE2F16-9E3F-8FCC-2AA3-38EF63DB01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084F38-8083-EE0D-74C4-9967665BA9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E0AA4C-B9D9-DCEE-5200-94CDC7C57E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65E611-0878-1151-8D76-7A16EF855C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F3AB52-49FA-A593-7A42-F302E9DCBBD6}"/>
              </a:ext>
            </a:extLst>
          </p:cNvPr>
          <p:cNvSpPr>
            <a:spLocks noGrp="1"/>
          </p:cNvSpPr>
          <p:nvPr>
            <p:ph type="dt" sz="half" idx="10"/>
          </p:nvPr>
        </p:nvSpPr>
        <p:spPr/>
        <p:txBody>
          <a:bodyPr/>
          <a:lstStyle/>
          <a:p>
            <a:fld id="{BC3B0340-DF4E-4612-BDC6-DED8B56CED3F}" type="datetimeFigureOut">
              <a:rPr lang="en-US" smtClean="0"/>
              <a:t>12/10/2025</a:t>
            </a:fld>
            <a:endParaRPr lang="en-US"/>
          </a:p>
        </p:txBody>
      </p:sp>
      <p:sp>
        <p:nvSpPr>
          <p:cNvPr id="8" name="Footer Placeholder 7">
            <a:extLst>
              <a:ext uri="{FF2B5EF4-FFF2-40B4-BE49-F238E27FC236}">
                <a16:creationId xmlns:a16="http://schemas.microsoft.com/office/drawing/2014/main" id="{EF2B7EC9-BB77-1F16-58EA-5B99EB4AA1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FF7EF4-2C7D-008D-572A-7B7E2215FFD9}"/>
              </a:ext>
            </a:extLst>
          </p:cNvPr>
          <p:cNvSpPr>
            <a:spLocks noGrp="1"/>
          </p:cNvSpPr>
          <p:nvPr>
            <p:ph type="sldNum" sz="quarter" idx="12"/>
          </p:nvPr>
        </p:nvSpPr>
        <p:spPr/>
        <p:txBody>
          <a:bodyPr/>
          <a:lstStyle/>
          <a:p>
            <a:fld id="{F7B132EC-7D1B-4EBE-B4F9-F48D3B0F1172}" type="slidenum">
              <a:rPr lang="en-US" smtClean="0"/>
              <a:t>‹nº›</a:t>
            </a:fld>
            <a:endParaRPr lang="en-US"/>
          </a:p>
        </p:txBody>
      </p:sp>
    </p:spTree>
    <p:extLst>
      <p:ext uri="{BB962C8B-B14F-4D97-AF65-F5344CB8AC3E}">
        <p14:creationId xmlns:p14="http://schemas.microsoft.com/office/powerpoint/2010/main" val="311539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1742-E330-29BA-99E1-86622CA30F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D48D41-146F-555B-4469-42930B8231F6}"/>
              </a:ext>
            </a:extLst>
          </p:cNvPr>
          <p:cNvSpPr>
            <a:spLocks noGrp="1"/>
          </p:cNvSpPr>
          <p:nvPr>
            <p:ph type="dt" sz="half" idx="10"/>
          </p:nvPr>
        </p:nvSpPr>
        <p:spPr/>
        <p:txBody>
          <a:bodyPr/>
          <a:lstStyle/>
          <a:p>
            <a:fld id="{BC3B0340-DF4E-4612-BDC6-DED8B56CED3F}" type="datetimeFigureOut">
              <a:rPr lang="en-US" smtClean="0"/>
              <a:t>12/10/2025</a:t>
            </a:fld>
            <a:endParaRPr lang="en-US"/>
          </a:p>
        </p:txBody>
      </p:sp>
      <p:sp>
        <p:nvSpPr>
          <p:cNvPr id="4" name="Footer Placeholder 3">
            <a:extLst>
              <a:ext uri="{FF2B5EF4-FFF2-40B4-BE49-F238E27FC236}">
                <a16:creationId xmlns:a16="http://schemas.microsoft.com/office/drawing/2014/main" id="{9FF8C31F-7884-8D59-B03E-A375D04F4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016D0B-086E-C2D3-F218-FA2AA8CA2094}"/>
              </a:ext>
            </a:extLst>
          </p:cNvPr>
          <p:cNvSpPr>
            <a:spLocks noGrp="1"/>
          </p:cNvSpPr>
          <p:nvPr>
            <p:ph type="sldNum" sz="quarter" idx="12"/>
          </p:nvPr>
        </p:nvSpPr>
        <p:spPr/>
        <p:txBody>
          <a:bodyPr/>
          <a:lstStyle/>
          <a:p>
            <a:fld id="{F7B132EC-7D1B-4EBE-B4F9-F48D3B0F1172}" type="slidenum">
              <a:rPr lang="en-US" smtClean="0"/>
              <a:t>‹nº›</a:t>
            </a:fld>
            <a:endParaRPr lang="en-US"/>
          </a:p>
        </p:txBody>
      </p:sp>
    </p:spTree>
    <p:extLst>
      <p:ext uri="{BB962C8B-B14F-4D97-AF65-F5344CB8AC3E}">
        <p14:creationId xmlns:p14="http://schemas.microsoft.com/office/powerpoint/2010/main" val="1353032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8A43F0-1BBC-E154-C796-0D94361060A5}"/>
              </a:ext>
            </a:extLst>
          </p:cNvPr>
          <p:cNvSpPr>
            <a:spLocks noGrp="1"/>
          </p:cNvSpPr>
          <p:nvPr>
            <p:ph type="dt" sz="half" idx="10"/>
          </p:nvPr>
        </p:nvSpPr>
        <p:spPr/>
        <p:txBody>
          <a:bodyPr/>
          <a:lstStyle/>
          <a:p>
            <a:fld id="{BC3B0340-DF4E-4612-BDC6-DED8B56CED3F}" type="datetimeFigureOut">
              <a:rPr lang="en-US" smtClean="0"/>
              <a:t>12/10/2025</a:t>
            </a:fld>
            <a:endParaRPr lang="en-US"/>
          </a:p>
        </p:txBody>
      </p:sp>
      <p:sp>
        <p:nvSpPr>
          <p:cNvPr id="3" name="Footer Placeholder 2">
            <a:extLst>
              <a:ext uri="{FF2B5EF4-FFF2-40B4-BE49-F238E27FC236}">
                <a16:creationId xmlns:a16="http://schemas.microsoft.com/office/drawing/2014/main" id="{C9AA0792-B88C-5294-FF90-4120480D0A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26DDDE-42C7-CE2F-F716-8330F2893991}"/>
              </a:ext>
            </a:extLst>
          </p:cNvPr>
          <p:cNvSpPr>
            <a:spLocks noGrp="1"/>
          </p:cNvSpPr>
          <p:nvPr>
            <p:ph type="sldNum" sz="quarter" idx="12"/>
          </p:nvPr>
        </p:nvSpPr>
        <p:spPr/>
        <p:txBody>
          <a:bodyPr/>
          <a:lstStyle/>
          <a:p>
            <a:fld id="{F7B132EC-7D1B-4EBE-B4F9-F48D3B0F1172}" type="slidenum">
              <a:rPr lang="en-US" smtClean="0"/>
              <a:t>‹nº›</a:t>
            </a:fld>
            <a:endParaRPr lang="en-US"/>
          </a:p>
        </p:txBody>
      </p:sp>
    </p:spTree>
    <p:extLst>
      <p:ext uri="{BB962C8B-B14F-4D97-AF65-F5344CB8AC3E}">
        <p14:creationId xmlns:p14="http://schemas.microsoft.com/office/powerpoint/2010/main" val="3630671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B60EE-4734-A473-46B7-BA936AD61A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E6450E-33CB-293B-C38E-4D4380C131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7A00A6-4D24-3B15-F2F7-4E8A8BD652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C40B48-6CE5-1AB9-38B5-B7FC1A509777}"/>
              </a:ext>
            </a:extLst>
          </p:cNvPr>
          <p:cNvSpPr>
            <a:spLocks noGrp="1"/>
          </p:cNvSpPr>
          <p:nvPr>
            <p:ph type="dt" sz="half" idx="10"/>
          </p:nvPr>
        </p:nvSpPr>
        <p:spPr/>
        <p:txBody>
          <a:bodyPr/>
          <a:lstStyle/>
          <a:p>
            <a:fld id="{BC3B0340-DF4E-4612-BDC6-DED8B56CED3F}" type="datetimeFigureOut">
              <a:rPr lang="en-US" smtClean="0"/>
              <a:t>12/10/2025</a:t>
            </a:fld>
            <a:endParaRPr lang="en-US"/>
          </a:p>
        </p:txBody>
      </p:sp>
      <p:sp>
        <p:nvSpPr>
          <p:cNvPr id="6" name="Footer Placeholder 5">
            <a:extLst>
              <a:ext uri="{FF2B5EF4-FFF2-40B4-BE49-F238E27FC236}">
                <a16:creationId xmlns:a16="http://schemas.microsoft.com/office/drawing/2014/main" id="{B2E07B9F-FC80-1FD7-8A25-7CD724D25E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9D86D2-F22E-93F4-915C-96F90F4E96C1}"/>
              </a:ext>
            </a:extLst>
          </p:cNvPr>
          <p:cNvSpPr>
            <a:spLocks noGrp="1"/>
          </p:cNvSpPr>
          <p:nvPr>
            <p:ph type="sldNum" sz="quarter" idx="12"/>
          </p:nvPr>
        </p:nvSpPr>
        <p:spPr/>
        <p:txBody>
          <a:bodyPr/>
          <a:lstStyle/>
          <a:p>
            <a:fld id="{F7B132EC-7D1B-4EBE-B4F9-F48D3B0F1172}" type="slidenum">
              <a:rPr lang="en-US" smtClean="0"/>
              <a:t>‹nº›</a:t>
            </a:fld>
            <a:endParaRPr lang="en-US"/>
          </a:p>
        </p:txBody>
      </p:sp>
    </p:spTree>
    <p:extLst>
      <p:ext uri="{BB962C8B-B14F-4D97-AF65-F5344CB8AC3E}">
        <p14:creationId xmlns:p14="http://schemas.microsoft.com/office/powerpoint/2010/main" val="2747614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61704-9B99-FF8F-4976-CEF93B92FF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66CCB6-2A4A-669E-5BBC-0D99484CE9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50C6FF-8AE2-4990-77DF-632AFE20D7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D29E5A-26D9-9A3F-1338-B7AA6BCE7377}"/>
              </a:ext>
            </a:extLst>
          </p:cNvPr>
          <p:cNvSpPr>
            <a:spLocks noGrp="1"/>
          </p:cNvSpPr>
          <p:nvPr>
            <p:ph type="dt" sz="half" idx="10"/>
          </p:nvPr>
        </p:nvSpPr>
        <p:spPr/>
        <p:txBody>
          <a:bodyPr/>
          <a:lstStyle/>
          <a:p>
            <a:fld id="{BC3B0340-DF4E-4612-BDC6-DED8B56CED3F}" type="datetimeFigureOut">
              <a:rPr lang="en-US" smtClean="0"/>
              <a:t>12/10/2025</a:t>
            </a:fld>
            <a:endParaRPr lang="en-US"/>
          </a:p>
        </p:txBody>
      </p:sp>
      <p:sp>
        <p:nvSpPr>
          <p:cNvPr id="6" name="Footer Placeholder 5">
            <a:extLst>
              <a:ext uri="{FF2B5EF4-FFF2-40B4-BE49-F238E27FC236}">
                <a16:creationId xmlns:a16="http://schemas.microsoft.com/office/drawing/2014/main" id="{618258DA-1F86-A47A-2ABF-272862B1A9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32A19C-38CD-16EC-A757-EE3A0CAEC8C2}"/>
              </a:ext>
            </a:extLst>
          </p:cNvPr>
          <p:cNvSpPr>
            <a:spLocks noGrp="1"/>
          </p:cNvSpPr>
          <p:nvPr>
            <p:ph type="sldNum" sz="quarter" idx="12"/>
          </p:nvPr>
        </p:nvSpPr>
        <p:spPr/>
        <p:txBody>
          <a:bodyPr/>
          <a:lstStyle/>
          <a:p>
            <a:fld id="{F7B132EC-7D1B-4EBE-B4F9-F48D3B0F1172}" type="slidenum">
              <a:rPr lang="en-US" smtClean="0"/>
              <a:t>‹nº›</a:t>
            </a:fld>
            <a:endParaRPr lang="en-US"/>
          </a:p>
        </p:txBody>
      </p:sp>
    </p:spTree>
    <p:extLst>
      <p:ext uri="{BB962C8B-B14F-4D97-AF65-F5344CB8AC3E}">
        <p14:creationId xmlns:p14="http://schemas.microsoft.com/office/powerpoint/2010/main" val="3109793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B5D46-DE3B-B823-85F8-11C23C7B93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8514961-5C61-FA9A-2DB6-81199E43FA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5DA770-5426-0E97-ECA0-271CA3B86962}"/>
              </a:ext>
            </a:extLst>
          </p:cNvPr>
          <p:cNvSpPr>
            <a:spLocks noGrp="1"/>
          </p:cNvSpPr>
          <p:nvPr>
            <p:ph type="dt" sz="half" idx="10"/>
          </p:nvPr>
        </p:nvSpPr>
        <p:spPr/>
        <p:txBody>
          <a:bodyPr/>
          <a:lstStyle/>
          <a:p>
            <a:fld id="{BC3B0340-DF4E-4612-BDC6-DED8B56CED3F}" type="datetimeFigureOut">
              <a:rPr lang="en-US" smtClean="0"/>
              <a:t>12/10/2025</a:t>
            </a:fld>
            <a:endParaRPr lang="en-US"/>
          </a:p>
        </p:txBody>
      </p:sp>
      <p:sp>
        <p:nvSpPr>
          <p:cNvPr id="5" name="Footer Placeholder 4">
            <a:extLst>
              <a:ext uri="{FF2B5EF4-FFF2-40B4-BE49-F238E27FC236}">
                <a16:creationId xmlns:a16="http://schemas.microsoft.com/office/drawing/2014/main" id="{37B0DBA7-123A-898D-6F92-1DDA7C8C54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0A6613-79DA-8754-45BA-D42902DFF6D1}"/>
              </a:ext>
            </a:extLst>
          </p:cNvPr>
          <p:cNvSpPr>
            <a:spLocks noGrp="1"/>
          </p:cNvSpPr>
          <p:nvPr>
            <p:ph type="sldNum" sz="quarter" idx="12"/>
          </p:nvPr>
        </p:nvSpPr>
        <p:spPr/>
        <p:txBody>
          <a:bodyPr/>
          <a:lstStyle/>
          <a:p>
            <a:fld id="{F7B132EC-7D1B-4EBE-B4F9-F48D3B0F1172}" type="slidenum">
              <a:rPr lang="en-US" smtClean="0"/>
              <a:t>‹nº›</a:t>
            </a:fld>
            <a:endParaRPr lang="en-US"/>
          </a:p>
        </p:txBody>
      </p:sp>
    </p:spTree>
    <p:extLst>
      <p:ext uri="{BB962C8B-B14F-4D97-AF65-F5344CB8AC3E}">
        <p14:creationId xmlns:p14="http://schemas.microsoft.com/office/powerpoint/2010/main" val="1492440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BA3942-B8E5-36C2-94B2-FCF4EE9348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028807-1150-A949-CB35-ED7136D093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8D396B-7C8F-A99E-2D49-70BCF78C47EE}"/>
              </a:ext>
            </a:extLst>
          </p:cNvPr>
          <p:cNvSpPr>
            <a:spLocks noGrp="1"/>
          </p:cNvSpPr>
          <p:nvPr>
            <p:ph type="dt" sz="half" idx="10"/>
          </p:nvPr>
        </p:nvSpPr>
        <p:spPr/>
        <p:txBody>
          <a:bodyPr/>
          <a:lstStyle/>
          <a:p>
            <a:fld id="{BC3B0340-DF4E-4612-BDC6-DED8B56CED3F}" type="datetimeFigureOut">
              <a:rPr lang="en-US" smtClean="0"/>
              <a:t>12/10/2025</a:t>
            </a:fld>
            <a:endParaRPr lang="en-US"/>
          </a:p>
        </p:txBody>
      </p:sp>
      <p:sp>
        <p:nvSpPr>
          <p:cNvPr id="5" name="Footer Placeholder 4">
            <a:extLst>
              <a:ext uri="{FF2B5EF4-FFF2-40B4-BE49-F238E27FC236}">
                <a16:creationId xmlns:a16="http://schemas.microsoft.com/office/drawing/2014/main" id="{A90BEEF2-07CC-4AA5-4488-D55C5F293C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E27661-D754-C0D2-EFAD-A016F4346BCD}"/>
              </a:ext>
            </a:extLst>
          </p:cNvPr>
          <p:cNvSpPr>
            <a:spLocks noGrp="1"/>
          </p:cNvSpPr>
          <p:nvPr>
            <p:ph type="sldNum" sz="quarter" idx="12"/>
          </p:nvPr>
        </p:nvSpPr>
        <p:spPr/>
        <p:txBody>
          <a:bodyPr/>
          <a:lstStyle/>
          <a:p>
            <a:fld id="{F7B132EC-7D1B-4EBE-B4F9-F48D3B0F1172}" type="slidenum">
              <a:rPr lang="en-US" smtClean="0"/>
              <a:t>‹nº›</a:t>
            </a:fld>
            <a:endParaRPr lang="en-US"/>
          </a:p>
        </p:txBody>
      </p:sp>
    </p:spTree>
    <p:extLst>
      <p:ext uri="{BB962C8B-B14F-4D97-AF65-F5344CB8AC3E}">
        <p14:creationId xmlns:p14="http://schemas.microsoft.com/office/powerpoint/2010/main" val="2096036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FF4531-E070-1238-3B8C-CE8B4F7F3A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211C47-2AE0-6F41-C7F4-CD54ACD166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D3ED01-58E6-BB6D-C956-B7E343793D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3B0340-DF4E-4612-BDC6-DED8B56CED3F}" type="datetimeFigureOut">
              <a:rPr lang="en-US" smtClean="0"/>
              <a:t>12/10/2025</a:t>
            </a:fld>
            <a:endParaRPr lang="en-US"/>
          </a:p>
        </p:txBody>
      </p:sp>
      <p:sp>
        <p:nvSpPr>
          <p:cNvPr id="5" name="Footer Placeholder 4">
            <a:extLst>
              <a:ext uri="{FF2B5EF4-FFF2-40B4-BE49-F238E27FC236}">
                <a16:creationId xmlns:a16="http://schemas.microsoft.com/office/drawing/2014/main" id="{9D887140-78FE-2E7E-6547-F847F57D1A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F8F051-DE86-19AA-A9EE-27F7FC2605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B132EC-7D1B-4EBE-B4F9-F48D3B0F1172}" type="slidenum">
              <a:rPr lang="en-US" smtClean="0"/>
              <a:t>‹nº›</a:t>
            </a:fld>
            <a:endParaRPr lang="en-US"/>
          </a:p>
        </p:txBody>
      </p:sp>
    </p:spTree>
    <p:extLst>
      <p:ext uri="{BB962C8B-B14F-4D97-AF65-F5344CB8AC3E}">
        <p14:creationId xmlns:p14="http://schemas.microsoft.com/office/powerpoint/2010/main" val="30901893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5.jpeg"/><Relationship Id="rId7" Type="http://schemas.openxmlformats.org/officeDocument/2006/relationships/diagramColors" Target="../diagrams/colors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1640B8C-8C0D-8224-A1AD-95EF85D97F08}"/>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This may contain: a fingerprint on top of a computer chip with many lights in the dark around it">
            <a:extLst>
              <a:ext uri="{FF2B5EF4-FFF2-40B4-BE49-F238E27FC236}">
                <a16:creationId xmlns:a16="http://schemas.microsoft.com/office/drawing/2014/main" id="{0B8FFA20-ABFB-838C-3C19-197B4027ED97}"/>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t="13314" b="30436"/>
          <a:stretch>
            <a:fill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6598A65-C50B-3E1E-0E1E-78955128741C}"/>
              </a:ext>
            </a:extLst>
          </p:cNvPr>
          <p:cNvSpPr>
            <a:spLocks noGrp="1"/>
          </p:cNvSpPr>
          <p:nvPr>
            <p:ph type="ctrTitle"/>
          </p:nvPr>
        </p:nvSpPr>
        <p:spPr>
          <a:xfrm>
            <a:off x="1524000" y="1122362"/>
            <a:ext cx="9144000" cy="2900518"/>
          </a:xfrm>
        </p:spPr>
        <p:txBody>
          <a:bodyPr>
            <a:normAutofit/>
          </a:bodyPr>
          <a:lstStyle/>
          <a:p>
            <a:r>
              <a:rPr lang="en-US" dirty="0">
                <a:solidFill>
                  <a:srgbClr val="FFFFFF"/>
                </a:solidFill>
              </a:rPr>
              <a:t>Digital Forensics Investigation: State v. John Smith</a:t>
            </a:r>
          </a:p>
        </p:txBody>
      </p:sp>
      <p:sp>
        <p:nvSpPr>
          <p:cNvPr id="3" name="Subtitle 2">
            <a:extLst>
              <a:ext uri="{FF2B5EF4-FFF2-40B4-BE49-F238E27FC236}">
                <a16:creationId xmlns:a16="http://schemas.microsoft.com/office/drawing/2014/main" id="{718DC24D-27AC-E409-C5DB-07C2DEA349DB}"/>
              </a:ext>
            </a:extLst>
          </p:cNvPr>
          <p:cNvSpPr>
            <a:spLocks noGrp="1"/>
          </p:cNvSpPr>
          <p:nvPr>
            <p:ph type="subTitle" idx="1"/>
          </p:nvPr>
        </p:nvSpPr>
        <p:spPr>
          <a:xfrm>
            <a:off x="1524000" y="4159404"/>
            <a:ext cx="9144000" cy="1098395"/>
          </a:xfrm>
        </p:spPr>
        <p:txBody>
          <a:bodyPr>
            <a:normAutofit/>
          </a:bodyPr>
          <a:lstStyle/>
          <a:p>
            <a:r>
              <a:rPr lang="en-US" sz="1700">
                <a:solidFill>
                  <a:srgbClr val="FFFFFF"/>
                </a:solidFill>
              </a:rPr>
              <a:t>Evidence Recovery &amp; Analysis (Project ID: CIS-3345-LO-NS-SL)</a:t>
            </a:r>
          </a:p>
          <a:p>
            <a:endParaRPr lang="en-US" sz="1700">
              <a:solidFill>
                <a:srgbClr val="FFFFFF"/>
              </a:solidFill>
            </a:endParaRPr>
          </a:p>
          <a:p>
            <a:r>
              <a:rPr lang="en-US" sz="1700">
                <a:solidFill>
                  <a:srgbClr val="FFFFFF"/>
                </a:solidFill>
              </a:rPr>
              <a:t>By: Luis de Oliveira, Seth Lackey and Nicholas Schreen</a:t>
            </a:r>
          </a:p>
        </p:txBody>
      </p:sp>
    </p:spTree>
    <p:extLst>
      <p:ext uri="{BB962C8B-B14F-4D97-AF65-F5344CB8AC3E}">
        <p14:creationId xmlns:p14="http://schemas.microsoft.com/office/powerpoint/2010/main" val="298963966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C87871B-BBF3-85E2-7175-053D4D88AC8C}"/>
              </a:ext>
            </a:extLst>
          </p:cNvPr>
          <p:cNvPicPr>
            <a:picLocks noChangeAspect="1"/>
          </p:cNvPicPr>
          <p:nvPr/>
        </p:nvPicPr>
        <p:blipFill>
          <a:blip r:embed="rId3">
            <a:alphaModFix amt="35000"/>
          </a:blip>
          <a:srcRect b="443"/>
          <a:stretch>
            <a:fillRect/>
          </a:stretch>
        </p:blipFill>
        <p:spPr>
          <a:xfrm>
            <a:off x="20" y="10"/>
            <a:ext cx="12191980" cy="6857990"/>
          </a:xfrm>
          <a:prstGeom prst="rect">
            <a:avLst/>
          </a:prstGeom>
        </p:spPr>
      </p:pic>
      <p:sp>
        <p:nvSpPr>
          <p:cNvPr id="6" name="Title 5">
            <a:extLst>
              <a:ext uri="{FF2B5EF4-FFF2-40B4-BE49-F238E27FC236}">
                <a16:creationId xmlns:a16="http://schemas.microsoft.com/office/drawing/2014/main" id="{FAAD4037-09C3-D628-BFFB-6B26B54014E7}"/>
              </a:ext>
            </a:extLst>
          </p:cNvPr>
          <p:cNvSpPr txBox="1">
            <a:spLocks noGrp="1"/>
          </p:cNvSpPr>
          <p:nvPr>
            <p:ph type="title"/>
          </p:nvPr>
        </p:nvSpPr>
        <p:spPr>
          <a:xfrm>
            <a:off x="838200" y="365125"/>
            <a:ext cx="10515600" cy="1325563"/>
          </a:xfrm>
          <a:prstGeom prst="rect">
            <a:avLst/>
          </a:prstGeom>
        </p:spPr>
        <p:txBody>
          <a:bodyPr>
            <a:normAutofit/>
          </a:bodyPr>
          <a:lstStyle/>
          <a:p>
            <a:r>
              <a:rPr lang="en-US">
                <a:solidFill>
                  <a:srgbClr val="FFFFFF"/>
                </a:solidFill>
              </a:rPr>
              <a:t>Case Overview &amp; Objective</a:t>
            </a:r>
          </a:p>
        </p:txBody>
      </p:sp>
      <p:sp>
        <p:nvSpPr>
          <p:cNvPr id="3" name="Content Placeholder 2">
            <a:extLst>
              <a:ext uri="{FF2B5EF4-FFF2-40B4-BE49-F238E27FC236}">
                <a16:creationId xmlns:a16="http://schemas.microsoft.com/office/drawing/2014/main" id="{7F7FF2DD-8B62-FB68-1E51-6CDE9409CC74}"/>
              </a:ext>
            </a:extLst>
          </p:cNvPr>
          <p:cNvSpPr>
            <a:spLocks noGrp="1"/>
          </p:cNvSpPr>
          <p:nvPr>
            <p:ph idx="1"/>
          </p:nvPr>
        </p:nvSpPr>
        <p:spPr>
          <a:xfrm>
            <a:off x="838200" y="1825625"/>
            <a:ext cx="10515600" cy="4351338"/>
          </a:xfrm>
        </p:spPr>
        <p:txBody>
          <a:bodyPr>
            <a:normAutofit/>
          </a:bodyPr>
          <a:lstStyle/>
          <a:p>
            <a:r>
              <a:rPr lang="en-US" dirty="0">
                <a:solidFill>
                  <a:srgbClr val="FFFFFF"/>
                </a:solidFill>
              </a:rPr>
              <a:t>Scenario: Investigation of a Windows 10 desktop belonging to suspect John Smith.</a:t>
            </a:r>
          </a:p>
          <a:p>
            <a:r>
              <a:rPr lang="en-US" dirty="0">
                <a:solidFill>
                  <a:srgbClr val="FFFFFF"/>
                </a:solidFill>
              </a:rPr>
              <a:t>Allegation: Cyberbullying, harassment of Jane Doe, and distribution of non-consensual media ("meme" video).</a:t>
            </a:r>
          </a:p>
          <a:p>
            <a:r>
              <a:rPr lang="en-US" dirty="0">
                <a:solidFill>
                  <a:srgbClr val="FFFFFF"/>
                </a:solidFill>
              </a:rPr>
              <a:t>Objectives</a:t>
            </a:r>
          </a:p>
          <a:p>
            <a:pPr marL="971550" lvl="1" indent="-514350">
              <a:buFont typeface="+mj-lt"/>
              <a:buAutoNum type="arabicPeriod"/>
            </a:pPr>
            <a:r>
              <a:rPr lang="en-US" dirty="0">
                <a:solidFill>
                  <a:srgbClr val="FFFFFF"/>
                </a:solidFill>
              </a:rPr>
              <a:t>Recover Chat Logs.</a:t>
            </a:r>
          </a:p>
          <a:p>
            <a:pPr marL="971550" lvl="1" indent="-514350">
              <a:buFont typeface="+mj-lt"/>
              <a:buAutoNum type="arabicPeriod"/>
            </a:pPr>
            <a:r>
              <a:rPr lang="en-US" dirty="0">
                <a:solidFill>
                  <a:srgbClr val="FFFFFF"/>
                </a:solidFill>
              </a:rPr>
              <a:t>Locate the “meme” video and prove authorship.</a:t>
            </a:r>
          </a:p>
          <a:p>
            <a:pPr marL="971550" lvl="1" indent="-514350">
              <a:buFont typeface="+mj-lt"/>
              <a:buAutoNum type="arabicPeriod"/>
            </a:pPr>
            <a:r>
              <a:rPr lang="en-US" dirty="0">
                <a:solidFill>
                  <a:srgbClr val="FFFFFF"/>
                </a:solidFill>
              </a:rPr>
              <a:t>Analyze web activity for distribution.</a:t>
            </a:r>
          </a:p>
          <a:p>
            <a:pPr marL="971550" lvl="1" indent="-514350">
              <a:buFont typeface="+mj-lt"/>
              <a:buAutoNum type="arabicPeriod"/>
            </a:pPr>
            <a:r>
              <a:rPr lang="en-US" dirty="0">
                <a:solidFill>
                  <a:srgbClr val="FFFFFF"/>
                </a:solidFill>
              </a:rPr>
              <a:t>Investigative physical transfer (USB).</a:t>
            </a:r>
          </a:p>
        </p:txBody>
      </p:sp>
    </p:spTree>
    <p:extLst>
      <p:ext uri="{BB962C8B-B14F-4D97-AF65-F5344CB8AC3E}">
        <p14:creationId xmlns:p14="http://schemas.microsoft.com/office/powerpoint/2010/main" val="361387887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7AC2D41-2F93-C15E-94CF-6EA53D2AEDB6}"/>
              </a:ext>
            </a:extLst>
          </p:cNvPr>
          <p:cNvPicPr>
            <a:picLocks noChangeAspect="1"/>
          </p:cNvPicPr>
          <p:nvPr/>
        </p:nvPicPr>
        <p:blipFill>
          <a:blip r:embed="rId3">
            <a:duotone>
              <a:schemeClr val="bg2">
                <a:shade val="45000"/>
                <a:satMod val="135000"/>
              </a:schemeClr>
              <a:prstClr val="white"/>
            </a:duotone>
          </a:blip>
          <a:srcRect t="14205" b="1525"/>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389F4B-6740-3F28-2313-18DB383EB1E4}"/>
              </a:ext>
            </a:extLst>
          </p:cNvPr>
          <p:cNvSpPr>
            <a:spLocks noGrp="1"/>
          </p:cNvSpPr>
          <p:nvPr>
            <p:ph type="title"/>
          </p:nvPr>
        </p:nvSpPr>
        <p:spPr>
          <a:xfrm>
            <a:off x="838200" y="365125"/>
            <a:ext cx="10515600" cy="1325563"/>
          </a:xfrm>
        </p:spPr>
        <p:txBody>
          <a:bodyPr>
            <a:normAutofit/>
          </a:bodyPr>
          <a:lstStyle/>
          <a:p>
            <a:r>
              <a:rPr lang="en-US" dirty="0"/>
              <a:t>Investigation Roadmap</a:t>
            </a:r>
          </a:p>
        </p:txBody>
      </p:sp>
      <p:graphicFrame>
        <p:nvGraphicFramePr>
          <p:cNvPr id="5" name="Content Placeholder 2">
            <a:extLst>
              <a:ext uri="{FF2B5EF4-FFF2-40B4-BE49-F238E27FC236}">
                <a16:creationId xmlns:a16="http://schemas.microsoft.com/office/drawing/2014/main" id="{C6DC0522-52FB-1BE0-E713-139FBB2AC257}"/>
              </a:ext>
            </a:extLst>
          </p:cNvPr>
          <p:cNvGraphicFramePr>
            <a:graphicFrameLocks noGrp="1"/>
          </p:cNvGraphicFramePr>
          <p:nvPr>
            <p:ph idx="1"/>
            <p:extLst>
              <p:ext uri="{D42A27DB-BD31-4B8C-83A1-F6EECF244321}">
                <p14:modId xmlns:p14="http://schemas.microsoft.com/office/powerpoint/2010/main" val="247138601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90751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0A3D595-845F-010E-E93B-2E09BA1D30B2}"/>
              </a:ext>
            </a:extLst>
          </p:cNvPr>
          <p:cNvPicPr>
            <a:picLocks noChangeAspect="1"/>
          </p:cNvPicPr>
          <p:nvPr/>
        </p:nvPicPr>
        <p:blipFill>
          <a:blip r:embed="rId3">
            <a:alphaModFix amt="35000"/>
          </a:blip>
          <a:srcRect t="30415" b="13335"/>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C84D684D-E805-6451-3C2C-EE1C0BBE24A8}"/>
              </a:ext>
            </a:extLst>
          </p:cNvPr>
          <p:cNvSpPr>
            <a:spLocks noGrp="1"/>
          </p:cNvSpPr>
          <p:nvPr>
            <p:ph type="title"/>
          </p:nvPr>
        </p:nvSpPr>
        <p:spPr>
          <a:xfrm>
            <a:off x="838200" y="365125"/>
            <a:ext cx="10515600" cy="1325563"/>
          </a:xfrm>
        </p:spPr>
        <p:txBody>
          <a:bodyPr>
            <a:normAutofit/>
          </a:bodyPr>
          <a:lstStyle/>
          <a:p>
            <a:r>
              <a:rPr lang="en-US">
                <a:solidFill>
                  <a:srgbClr val="FFFFFF"/>
                </a:solidFill>
              </a:rPr>
              <a:t>Milestone 1 - Discord Analysis</a:t>
            </a:r>
          </a:p>
        </p:txBody>
      </p:sp>
      <p:sp>
        <p:nvSpPr>
          <p:cNvPr id="3" name="Content Placeholder 2">
            <a:extLst>
              <a:ext uri="{FF2B5EF4-FFF2-40B4-BE49-F238E27FC236}">
                <a16:creationId xmlns:a16="http://schemas.microsoft.com/office/drawing/2014/main" id="{8EFD07A4-7A48-24B0-5872-09BE82DF3996}"/>
              </a:ext>
            </a:extLst>
          </p:cNvPr>
          <p:cNvSpPr>
            <a:spLocks noGrp="1"/>
          </p:cNvSpPr>
          <p:nvPr>
            <p:ph idx="1"/>
          </p:nvPr>
        </p:nvSpPr>
        <p:spPr>
          <a:xfrm>
            <a:off x="838200" y="1825625"/>
            <a:ext cx="10515600" cy="4351338"/>
          </a:xfrm>
        </p:spPr>
        <p:txBody>
          <a:bodyPr>
            <a:normAutofit/>
          </a:bodyPr>
          <a:lstStyle/>
          <a:p>
            <a:r>
              <a:rPr lang="en-US">
                <a:solidFill>
                  <a:srgbClr val="FFFFFF"/>
                </a:solidFill>
              </a:rPr>
              <a:t>User Story: Recover messages containing insults/threats to Jane Doe.</a:t>
            </a:r>
          </a:p>
          <a:p>
            <a:r>
              <a:rPr lang="en-US">
                <a:solidFill>
                  <a:srgbClr val="FFFFFF"/>
                </a:solidFill>
              </a:rPr>
              <a:t>Extraction:</a:t>
            </a:r>
          </a:p>
          <a:p>
            <a:pPr lvl="1"/>
            <a:r>
              <a:rPr lang="en-US">
                <a:solidFill>
                  <a:srgbClr val="FFFFFF"/>
                </a:solidFill>
              </a:rPr>
              <a:t>Target: C:\Users\John Smith\AppData\Roaming\Discord\</a:t>
            </a:r>
          </a:p>
          <a:p>
            <a:pPr lvl="1"/>
            <a:r>
              <a:rPr lang="fr-FR">
                <a:solidFill>
                  <a:srgbClr val="FFFFFF"/>
                </a:solidFill>
              </a:rPr>
              <a:t>Action: Extract core SQLite database files (.db).</a:t>
            </a:r>
            <a:endParaRPr lang="en-US">
              <a:solidFill>
                <a:srgbClr val="FFFFFF"/>
              </a:solidFill>
            </a:endParaRPr>
          </a:p>
          <a:p>
            <a:r>
              <a:rPr lang="en-US">
                <a:solidFill>
                  <a:srgbClr val="FFFFFF"/>
                </a:solidFill>
              </a:rPr>
              <a:t>Analysis:</a:t>
            </a:r>
          </a:p>
          <a:p>
            <a:pPr lvl="1"/>
            <a:r>
              <a:rPr lang="en-US">
                <a:solidFill>
                  <a:srgbClr val="FFFFFF"/>
                </a:solidFill>
              </a:rPr>
              <a:t>Tool: DB Browser for SQLite.</a:t>
            </a:r>
          </a:p>
          <a:p>
            <a:pPr lvl="1"/>
            <a:r>
              <a:rPr lang="en-US">
                <a:solidFill>
                  <a:srgbClr val="FFFFFF"/>
                </a:solidFill>
              </a:rPr>
              <a:t>Query: Filter by Date (Oct 2025) and Keywords ("Jane Doe", threats).</a:t>
            </a:r>
          </a:p>
          <a:p>
            <a:r>
              <a:rPr lang="en-US">
                <a:solidFill>
                  <a:srgbClr val="FFFFFF"/>
                </a:solidFill>
              </a:rPr>
              <a:t>Validation: Document cryptographic hashes of extracted DBs.</a:t>
            </a:r>
          </a:p>
        </p:txBody>
      </p:sp>
    </p:spTree>
    <p:extLst>
      <p:ext uri="{BB962C8B-B14F-4D97-AF65-F5344CB8AC3E}">
        <p14:creationId xmlns:p14="http://schemas.microsoft.com/office/powerpoint/2010/main" val="192332776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9C73372-DC01-041E-F1AE-6173E269C5D2}"/>
              </a:ext>
            </a:extLst>
          </p:cNvPr>
          <p:cNvPicPr>
            <a:picLocks noChangeAspect="1"/>
          </p:cNvPicPr>
          <p:nvPr/>
        </p:nvPicPr>
        <p:blipFill>
          <a:blip r:embed="rId3">
            <a:alphaModFix amt="35000"/>
          </a:blip>
          <a:srcRect t="30415" b="13335"/>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C1AC578B-03FA-D99D-0886-3014E5D01762}"/>
              </a:ext>
            </a:extLst>
          </p:cNvPr>
          <p:cNvSpPr>
            <a:spLocks noGrp="1"/>
          </p:cNvSpPr>
          <p:nvPr>
            <p:ph type="title"/>
          </p:nvPr>
        </p:nvSpPr>
        <p:spPr>
          <a:xfrm>
            <a:off x="838200" y="365125"/>
            <a:ext cx="10515600" cy="1325563"/>
          </a:xfrm>
        </p:spPr>
        <p:txBody>
          <a:bodyPr>
            <a:normAutofit/>
          </a:bodyPr>
          <a:lstStyle/>
          <a:p>
            <a:r>
              <a:rPr lang="en-US">
                <a:solidFill>
                  <a:srgbClr val="FFFFFF"/>
                </a:solidFill>
              </a:rPr>
              <a:t>Milestone 1 - Steam Chat Logs</a:t>
            </a:r>
          </a:p>
        </p:txBody>
      </p:sp>
      <p:sp>
        <p:nvSpPr>
          <p:cNvPr id="3" name="Content Placeholder 2">
            <a:extLst>
              <a:ext uri="{FF2B5EF4-FFF2-40B4-BE49-F238E27FC236}">
                <a16:creationId xmlns:a16="http://schemas.microsoft.com/office/drawing/2014/main" id="{33EE85E5-40E3-AF14-F28D-986685CB0AF2}"/>
              </a:ext>
            </a:extLst>
          </p:cNvPr>
          <p:cNvSpPr>
            <a:spLocks noGrp="1"/>
          </p:cNvSpPr>
          <p:nvPr>
            <p:ph idx="1"/>
          </p:nvPr>
        </p:nvSpPr>
        <p:spPr>
          <a:xfrm>
            <a:off x="838200" y="1825625"/>
            <a:ext cx="10515600" cy="4351338"/>
          </a:xfrm>
        </p:spPr>
        <p:txBody>
          <a:bodyPr>
            <a:normAutofit/>
          </a:bodyPr>
          <a:lstStyle/>
          <a:p>
            <a:r>
              <a:rPr lang="en-US">
                <a:solidFill>
                  <a:srgbClr val="FFFFFF"/>
                </a:solidFill>
              </a:rPr>
              <a:t>User Story: Identify communications related to harassment on gaming platforms.</a:t>
            </a:r>
          </a:p>
          <a:p>
            <a:r>
              <a:rPr lang="en-US">
                <a:solidFill>
                  <a:srgbClr val="FFFFFF"/>
                </a:solidFill>
              </a:rPr>
              <a:t>Process:</a:t>
            </a:r>
          </a:p>
          <a:p>
            <a:pPr lvl="1"/>
            <a:r>
              <a:rPr lang="en-US">
                <a:solidFill>
                  <a:srgbClr val="FFFFFF"/>
                </a:solidFill>
              </a:rPr>
              <a:t>Locate: Navigate to \Steam\userdata\[ID]\ to find specific user logs.</a:t>
            </a:r>
          </a:p>
          <a:p>
            <a:pPr lvl="1"/>
            <a:r>
              <a:rPr lang="en-US">
                <a:solidFill>
                  <a:srgbClr val="FFFFFF"/>
                </a:solidFill>
              </a:rPr>
              <a:t>Search: Run keyword searches for victim's name or video title.</a:t>
            </a:r>
          </a:p>
          <a:p>
            <a:r>
              <a:rPr lang="en-US">
                <a:solidFill>
                  <a:srgbClr val="FFFFFF"/>
                </a:solidFill>
              </a:rPr>
              <a:t>Evidence: Screenshot incriminating conversations for the report appendix.</a:t>
            </a:r>
          </a:p>
        </p:txBody>
      </p:sp>
    </p:spTree>
    <p:extLst>
      <p:ext uri="{BB962C8B-B14F-4D97-AF65-F5344CB8AC3E}">
        <p14:creationId xmlns:p14="http://schemas.microsoft.com/office/powerpoint/2010/main" val="2429335644"/>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B03063D-0DDB-D72C-75C8-7E56412956EE}"/>
              </a:ext>
            </a:extLst>
          </p:cNvPr>
          <p:cNvPicPr>
            <a:picLocks noChangeAspect="1"/>
          </p:cNvPicPr>
          <p:nvPr/>
        </p:nvPicPr>
        <p:blipFill>
          <a:blip r:embed="rId3">
            <a:alphaModFix amt="35000"/>
          </a:blip>
          <a:srcRect t="30415" b="13335"/>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A7DF4758-25BD-1D7D-8128-6D2D537C7C64}"/>
              </a:ext>
            </a:extLst>
          </p:cNvPr>
          <p:cNvSpPr>
            <a:spLocks noGrp="1"/>
          </p:cNvSpPr>
          <p:nvPr>
            <p:ph type="title"/>
          </p:nvPr>
        </p:nvSpPr>
        <p:spPr>
          <a:xfrm>
            <a:off x="838200" y="365125"/>
            <a:ext cx="10515600" cy="1325563"/>
          </a:xfrm>
        </p:spPr>
        <p:txBody>
          <a:bodyPr>
            <a:normAutofit/>
          </a:bodyPr>
          <a:lstStyle/>
          <a:p>
            <a:r>
              <a:rPr lang="en-US">
                <a:solidFill>
                  <a:srgbClr val="FFFFFF"/>
                </a:solidFill>
              </a:rPr>
              <a:t>Milestone 2 - Video Recovery (File Carving)</a:t>
            </a:r>
          </a:p>
        </p:txBody>
      </p:sp>
      <p:sp>
        <p:nvSpPr>
          <p:cNvPr id="3" name="Content Placeholder 2">
            <a:extLst>
              <a:ext uri="{FF2B5EF4-FFF2-40B4-BE49-F238E27FC236}">
                <a16:creationId xmlns:a16="http://schemas.microsoft.com/office/drawing/2014/main" id="{239BDB95-0C4C-22A4-3CDD-554FFEA6AC6D}"/>
              </a:ext>
            </a:extLst>
          </p:cNvPr>
          <p:cNvSpPr>
            <a:spLocks noGrp="1"/>
          </p:cNvSpPr>
          <p:nvPr>
            <p:ph idx="1"/>
          </p:nvPr>
        </p:nvSpPr>
        <p:spPr>
          <a:xfrm>
            <a:off x="838200" y="1825625"/>
            <a:ext cx="10515600" cy="4351338"/>
          </a:xfrm>
        </p:spPr>
        <p:txBody>
          <a:bodyPr>
            <a:normAutofit/>
          </a:bodyPr>
          <a:lstStyle/>
          <a:p>
            <a:r>
              <a:rPr lang="en-US">
                <a:solidFill>
                  <a:srgbClr val="FFFFFF"/>
                </a:solidFill>
              </a:rPr>
              <a:t>User Story: Locate the "meme" video file deleted from the hard drive.</a:t>
            </a:r>
          </a:p>
          <a:p>
            <a:r>
              <a:rPr lang="en-US">
                <a:solidFill>
                  <a:srgbClr val="FFFFFF"/>
                </a:solidFill>
              </a:rPr>
              <a:t>Method 1: File Carving.</a:t>
            </a:r>
          </a:p>
          <a:p>
            <a:pPr lvl="1"/>
            <a:r>
              <a:rPr lang="en-US">
                <a:solidFill>
                  <a:srgbClr val="FFFFFF"/>
                </a:solidFill>
              </a:rPr>
              <a:t>Tool: Scalpel or Foremost.</a:t>
            </a:r>
          </a:p>
          <a:p>
            <a:pPr lvl="1"/>
            <a:r>
              <a:rPr lang="en-US">
                <a:solidFill>
                  <a:srgbClr val="FFFFFF"/>
                </a:solidFill>
              </a:rPr>
              <a:t>Target: Unallocated Space (scanning for headers/footers).</a:t>
            </a:r>
          </a:p>
          <a:p>
            <a:r>
              <a:rPr lang="en-US">
                <a:solidFill>
                  <a:srgbClr val="FFFFFF"/>
                </a:solidFill>
              </a:rPr>
              <a:t>Method 2: Hash Search</a:t>
            </a:r>
          </a:p>
          <a:p>
            <a:pPr lvl="1"/>
            <a:r>
              <a:rPr lang="en-US">
                <a:solidFill>
                  <a:srgbClr val="FFFFFF"/>
                </a:solidFill>
              </a:rPr>
              <a:t>Action: Run SHA-256 hash match against the disk image to find specific file signatures.</a:t>
            </a:r>
          </a:p>
        </p:txBody>
      </p:sp>
    </p:spTree>
    <p:extLst>
      <p:ext uri="{BB962C8B-B14F-4D97-AF65-F5344CB8AC3E}">
        <p14:creationId xmlns:p14="http://schemas.microsoft.com/office/powerpoint/2010/main" val="1286131874"/>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C303C80-1128-BE16-D4CB-0C8E684B87C7}"/>
              </a:ext>
            </a:extLst>
          </p:cNvPr>
          <p:cNvPicPr>
            <a:picLocks noChangeAspect="1"/>
          </p:cNvPicPr>
          <p:nvPr/>
        </p:nvPicPr>
        <p:blipFill>
          <a:blip r:embed="rId3">
            <a:alphaModFix amt="35000"/>
          </a:blip>
          <a:srcRect t="30415" b="13335"/>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B88CDA07-89EC-10B5-93A9-1FF1DBC07BE2}"/>
              </a:ext>
            </a:extLst>
          </p:cNvPr>
          <p:cNvSpPr>
            <a:spLocks noGrp="1"/>
          </p:cNvSpPr>
          <p:nvPr>
            <p:ph type="title"/>
          </p:nvPr>
        </p:nvSpPr>
        <p:spPr>
          <a:xfrm>
            <a:off x="838200" y="365125"/>
            <a:ext cx="10515600" cy="1325563"/>
          </a:xfrm>
        </p:spPr>
        <p:txBody>
          <a:bodyPr>
            <a:normAutofit/>
          </a:bodyPr>
          <a:lstStyle/>
          <a:p>
            <a:r>
              <a:rPr lang="en-US">
                <a:solidFill>
                  <a:srgbClr val="FFFFFF"/>
                </a:solidFill>
              </a:rPr>
              <a:t>Milestone 2 - Proving Authorship</a:t>
            </a:r>
          </a:p>
        </p:txBody>
      </p:sp>
      <p:sp>
        <p:nvSpPr>
          <p:cNvPr id="3" name="Content Placeholder 2">
            <a:extLst>
              <a:ext uri="{FF2B5EF4-FFF2-40B4-BE49-F238E27FC236}">
                <a16:creationId xmlns:a16="http://schemas.microsoft.com/office/drawing/2014/main" id="{FBD66563-031E-7D21-A1C8-73AFC89D145E}"/>
              </a:ext>
            </a:extLst>
          </p:cNvPr>
          <p:cNvSpPr>
            <a:spLocks noGrp="1"/>
          </p:cNvSpPr>
          <p:nvPr>
            <p:ph idx="1"/>
          </p:nvPr>
        </p:nvSpPr>
        <p:spPr>
          <a:xfrm>
            <a:off x="838200" y="1825625"/>
            <a:ext cx="10515600" cy="4351338"/>
          </a:xfrm>
        </p:spPr>
        <p:txBody>
          <a:bodyPr>
            <a:normAutofit/>
          </a:bodyPr>
          <a:lstStyle/>
          <a:p>
            <a:r>
              <a:rPr lang="en-US">
                <a:solidFill>
                  <a:srgbClr val="FFFFFF"/>
                </a:solidFill>
              </a:rPr>
              <a:t>User Story: Prove the video was created/edited on </a:t>
            </a:r>
            <a:r>
              <a:rPr lang="en-US" i="1">
                <a:solidFill>
                  <a:srgbClr val="FFFFFF"/>
                </a:solidFill>
              </a:rPr>
              <a:t>this</a:t>
            </a:r>
            <a:r>
              <a:rPr lang="en-US">
                <a:solidFill>
                  <a:srgbClr val="FFFFFF"/>
                </a:solidFill>
              </a:rPr>
              <a:t> machine.</a:t>
            </a:r>
          </a:p>
          <a:p>
            <a:r>
              <a:rPr lang="en-US">
                <a:solidFill>
                  <a:srgbClr val="FFFFFF"/>
                </a:solidFill>
              </a:rPr>
              <a:t>Metadata Analysis:</a:t>
            </a:r>
          </a:p>
          <a:p>
            <a:pPr lvl="1"/>
            <a:r>
              <a:rPr lang="en-US">
                <a:solidFill>
                  <a:srgbClr val="FFFFFF"/>
                </a:solidFill>
              </a:rPr>
              <a:t>Tool: ExifTool.</a:t>
            </a:r>
          </a:p>
          <a:p>
            <a:pPr lvl="1"/>
            <a:r>
              <a:rPr lang="en-US">
                <a:solidFill>
                  <a:srgbClr val="FFFFFF"/>
                </a:solidFill>
              </a:rPr>
              <a:t>finding: Extract Creation and Modification timestamps.</a:t>
            </a:r>
          </a:p>
          <a:p>
            <a:r>
              <a:rPr lang="en-US">
                <a:solidFill>
                  <a:srgbClr val="FFFFFF"/>
                </a:solidFill>
              </a:rPr>
              <a:t>System Artifacts:</a:t>
            </a:r>
          </a:p>
          <a:p>
            <a:pPr lvl="1"/>
            <a:r>
              <a:rPr lang="en-US">
                <a:solidFill>
                  <a:srgbClr val="FFFFFF"/>
                </a:solidFill>
              </a:rPr>
              <a:t>Prefetch: Analyze C:\Windows\Prefetch for video editing software execution.</a:t>
            </a:r>
          </a:p>
          <a:p>
            <a:pPr lvl="1"/>
            <a:r>
              <a:rPr lang="en-US">
                <a:solidFill>
                  <a:srgbClr val="FFFFFF"/>
                </a:solidFill>
              </a:rPr>
              <a:t>Registry (UserAssist): Decode ROT13 keys in NTUSER.DAT to show run counts of editing tools.</a:t>
            </a:r>
          </a:p>
        </p:txBody>
      </p:sp>
    </p:spTree>
    <p:extLst>
      <p:ext uri="{BB962C8B-B14F-4D97-AF65-F5344CB8AC3E}">
        <p14:creationId xmlns:p14="http://schemas.microsoft.com/office/powerpoint/2010/main" val="402205232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8E0FF89-54C8-002C-23D2-5B60F766B84D}"/>
              </a:ext>
            </a:extLst>
          </p:cNvPr>
          <p:cNvPicPr>
            <a:picLocks noChangeAspect="1"/>
          </p:cNvPicPr>
          <p:nvPr/>
        </p:nvPicPr>
        <p:blipFill>
          <a:blip r:embed="rId3">
            <a:alphaModFix amt="35000"/>
          </a:blip>
          <a:srcRect t="30415" b="13335"/>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3DC648D2-1DD6-93E2-22D7-79940A2189DF}"/>
              </a:ext>
            </a:extLst>
          </p:cNvPr>
          <p:cNvSpPr>
            <a:spLocks noGrp="1"/>
          </p:cNvSpPr>
          <p:nvPr>
            <p:ph type="title"/>
          </p:nvPr>
        </p:nvSpPr>
        <p:spPr>
          <a:xfrm>
            <a:off x="838200" y="365125"/>
            <a:ext cx="10515600" cy="1325563"/>
          </a:xfrm>
        </p:spPr>
        <p:txBody>
          <a:bodyPr>
            <a:normAutofit/>
          </a:bodyPr>
          <a:lstStyle/>
          <a:p>
            <a:r>
              <a:rPr lang="en-US">
                <a:solidFill>
                  <a:srgbClr val="FFFFFF"/>
                </a:solidFill>
              </a:rPr>
              <a:t>Milestone 3 - Browser Forensics</a:t>
            </a:r>
          </a:p>
        </p:txBody>
      </p:sp>
      <p:sp>
        <p:nvSpPr>
          <p:cNvPr id="3" name="Content Placeholder 2">
            <a:extLst>
              <a:ext uri="{FF2B5EF4-FFF2-40B4-BE49-F238E27FC236}">
                <a16:creationId xmlns:a16="http://schemas.microsoft.com/office/drawing/2014/main" id="{2C871F43-BE9C-5A9A-0AF8-4D1815A01C85}"/>
              </a:ext>
            </a:extLst>
          </p:cNvPr>
          <p:cNvSpPr>
            <a:spLocks noGrp="1"/>
          </p:cNvSpPr>
          <p:nvPr>
            <p:ph idx="1"/>
          </p:nvPr>
        </p:nvSpPr>
        <p:spPr>
          <a:xfrm>
            <a:off x="838200" y="1825625"/>
            <a:ext cx="10515600" cy="4351338"/>
          </a:xfrm>
        </p:spPr>
        <p:txBody>
          <a:bodyPr>
            <a:normAutofit/>
          </a:bodyPr>
          <a:lstStyle/>
          <a:p>
            <a:r>
              <a:rPr lang="en-US">
                <a:solidFill>
                  <a:srgbClr val="FFFFFF"/>
                </a:solidFill>
              </a:rPr>
              <a:t>User Story: Did the suspect upload the video online?</a:t>
            </a:r>
          </a:p>
          <a:p>
            <a:r>
              <a:rPr lang="en-US">
                <a:solidFill>
                  <a:srgbClr val="FFFFFF"/>
                </a:solidFill>
              </a:rPr>
              <a:t>History Analysis:</a:t>
            </a:r>
          </a:p>
          <a:p>
            <a:pPr lvl="1"/>
            <a:r>
              <a:rPr lang="en-US">
                <a:solidFill>
                  <a:srgbClr val="FFFFFF"/>
                </a:solidFill>
              </a:rPr>
              <a:t>Artifacts: Chrome/Edge History &amp; Downloads.</a:t>
            </a:r>
          </a:p>
          <a:p>
            <a:pPr lvl="1"/>
            <a:r>
              <a:rPr lang="en-US">
                <a:solidFill>
                  <a:srgbClr val="FFFFFF"/>
                </a:solidFill>
              </a:rPr>
              <a:t>Filter: Look for upload sites (YouTube, Drive, Discord Web).</a:t>
            </a:r>
          </a:p>
          <a:p>
            <a:r>
              <a:rPr lang="en-US">
                <a:solidFill>
                  <a:srgbClr val="FFFFFF"/>
                </a:solidFill>
              </a:rPr>
              <a:t>Cache Analysis:</a:t>
            </a:r>
          </a:p>
          <a:p>
            <a:pPr lvl="1"/>
            <a:r>
              <a:rPr lang="en-US">
                <a:solidFill>
                  <a:srgbClr val="FFFFFF"/>
                </a:solidFill>
              </a:rPr>
              <a:t>Search browser cache for thumbnails/fragments of the video file to prove it was processed by the browser.</a:t>
            </a:r>
          </a:p>
        </p:txBody>
      </p:sp>
    </p:spTree>
    <p:extLst>
      <p:ext uri="{BB962C8B-B14F-4D97-AF65-F5344CB8AC3E}">
        <p14:creationId xmlns:p14="http://schemas.microsoft.com/office/powerpoint/2010/main" val="3557796615"/>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8DF285E-DBF7-9C12-0F5F-28DD6554E9EE}"/>
              </a:ext>
            </a:extLst>
          </p:cNvPr>
          <p:cNvPicPr>
            <a:picLocks noChangeAspect="1"/>
          </p:cNvPicPr>
          <p:nvPr/>
        </p:nvPicPr>
        <p:blipFill>
          <a:blip r:embed="rId3">
            <a:alphaModFix amt="35000"/>
          </a:blip>
          <a:srcRect t="30415" b="13335"/>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793B8611-5B27-28F5-6F4B-21B3CAB56C28}"/>
              </a:ext>
            </a:extLst>
          </p:cNvPr>
          <p:cNvSpPr>
            <a:spLocks noGrp="1"/>
          </p:cNvSpPr>
          <p:nvPr>
            <p:ph type="title"/>
          </p:nvPr>
        </p:nvSpPr>
        <p:spPr>
          <a:xfrm>
            <a:off x="838200" y="365125"/>
            <a:ext cx="10515600" cy="1325563"/>
          </a:xfrm>
        </p:spPr>
        <p:txBody>
          <a:bodyPr>
            <a:normAutofit/>
          </a:bodyPr>
          <a:lstStyle/>
          <a:p>
            <a:r>
              <a:rPr lang="en-US">
                <a:solidFill>
                  <a:srgbClr val="FFFFFF"/>
                </a:solidFill>
              </a:rPr>
              <a:t>Milestone 4 - USB Device History</a:t>
            </a:r>
          </a:p>
        </p:txBody>
      </p:sp>
      <p:sp>
        <p:nvSpPr>
          <p:cNvPr id="3" name="Content Placeholder 2">
            <a:extLst>
              <a:ext uri="{FF2B5EF4-FFF2-40B4-BE49-F238E27FC236}">
                <a16:creationId xmlns:a16="http://schemas.microsoft.com/office/drawing/2014/main" id="{3EFAE7C2-3551-B4DD-24FC-070F1C5C7D80}"/>
              </a:ext>
            </a:extLst>
          </p:cNvPr>
          <p:cNvSpPr>
            <a:spLocks noGrp="1"/>
          </p:cNvSpPr>
          <p:nvPr>
            <p:ph idx="1"/>
          </p:nvPr>
        </p:nvSpPr>
        <p:spPr>
          <a:xfrm>
            <a:off x="838200" y="1825625"/>
            <a:ext cx="10515600" cy="4351338"/>
          </a:xfrm>
        </p:spPr>
        <p:txBody>
          <a:bodyPr>
            <a:normAutofit/>
          </a:bodyPr>
          <a:lstStyle/>
          <a:p>
            <a:r>
              <a:rPr lang="en-US">
                <a:solidFill>
                  <a:srgbClr val="FFFFFF"/>
                </a:solidFill>
              </a:rPr>
              <a:t>User Story: Was the video transferred to an external drive?</a:t>
            </a:r>
          </a:p>
          <a:p>
            <a:r>
              <a:rPr lang="en-US">
                <a:solidFill>
                  <a:srgbClr val="FFFFFF"/>
                </a:solidFill>
              </a:rPr>
              <a:t>Registry Analysis:</a:t>
            </a:r>
          </a:p>
          <a:p>
            <a:pPr lvl="1"/>
            <a:r>
              <a:rPr lang="en-US">
                <a:solidFill>
                  <a:srgbClr val="FFFFFF"/>
                </a:solidFill>
              </a:rPr>
              <a:t>SYSTEM Hive: Check CurrentControlSet\Enum\USBSTOR for device Serial Numbers.</a:t>
            </a:r>
          </a:p>
          <a:p>
            <a:pPr lvl="1"/>
            <a:r>
              <a:rPr lang="en-US">
                <a:solidFill>
                  <a:srgbClr val="FFFFFF"/>
                </a:solidFill>
              </a:rPr>
              <a:t>NTUSER.DAT Hive: Check MountedDevices to link Volume GUIDs to the user.</a:t>
            </a:r>
          </a:p>
          <a:p>
            <a:r>
              <a:rPr lang="en-US">
                <a:solidFill>
                  <a:srgbClr val="FFFFFF"/>
                </a:solidFill>
              </a:rPr>
              <a:t>Goal: Correlate USB connection times with the video creation timestamp.</a:t>
            </a:r>
          </a:p>
        </p:txBody>
      </p:sp>
    </p:spTree>
    <p:extLst>
      <p:ext uri="{BB962C8B-B14F-4D97-AF65-F5344CB8AC3E}">
        <p14:creationId xmlns:p14="http://schemas.microsoft.com/office/powerpoint/2010/main" val="2779102015"/>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CAAA4B3-4238-9524-1870-5427B828F73E}"/>
              </a:ext>
            </a:extLst>
          </p:cNvPr>
          <p:cNvPicPr>
            <a:picLocks noChangeAspect="1"/>
          </p:cNvPicPr>
          <p:nvPr/>
        </p:nvPicPr>
        <p:blipFill>
          <a:blip r:embed="rId3">
            <a:alphaModFix amt="35000"/>
          </a:blip>
          <a:srcRect t="30415" b="13335"/>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E9EACB8-4FF5-9167-D69F-C0431FD5F078}"/>
              </a:ext>
            </a:extLst>
          </p:cNvPr>
          <p:cNvSpPr>
            <a:spLocks noGrp="1"/>
          </p:cNvSpPr>
          <p:nvPr>
            <p:ph type="title"/>
          </p:nvPr>
        </p:nvSpPr>
        <p:spPr>
          <a:xfrm>
            <a:off x="838200" y="365125"/>
            <a:ext cx="10515600" cy="1325563"/>
          </a:xfrm>
        </p:spPr>
        <p:txBody>
          <a:bodyPr>
            <a:normAutofit/>
          </a:bodyPr>
          <a:lstStyle/>
          <a:p>
            <a:r>
              <a:rPr lang="en-US">
                <a:solidFill>
                  <a:srgbClr val="FFFFFF"/>
                </a:solidFill>
              </a:rPr>
              <a:t>Milestone 5 - Timeline Reconstruction</a:t>
            </a:r>
          </a:p>
        </p:txBody>
      </p:sp>
      <p:sp>
        <p:nvSpPr>
          <p:cNvPr id="3" name="Content Placeholder 2">
            <a:extLst>
              <a:ext uri="{FF2B5EF4-FFF2-40B4-BE49-F238E27FC236}">
                <a16:creationId xmlns:a16="http://schemas.microsoft.com/office/drawing/2014/main" id="{7192A8F0-F5B9-1E12-CB25-D47DA31945F8}"/>
              </a:ext>
            </a:extLst>
          </p:cNvPr>
          <p:cNvSpPr>
            <a:spLocks noGrp="1"/>
          </p:cNvSpPr>
          <p:nvPr>
            <p:ph idx="1"/>
          </p:nvPr>
        </p:nvSpPr>
        <p:spPr>
          <a:xfrm>
            <a:off x="838200" y="1825625"/>
            <a:ext cx="10515600" cy="4351338"/>
          </a:xfrm>
        </p:spPr>
        <p:txBody>
          <a:bodyPr>
            <a:normAutofit/>
          </a:bodyPr>
          <a:lstStyle/>
          <a:p>
            <a:r>
              <a:rPr lang="en-US">
                <a:solidFill>
                  <a:srgbClr val="FFFFFF"/>
                </a:solidFill>
              </a:rPr>
              <a:t>User Story: Correlate all artifacts into a single narrative.</a:t>
            </a:r>
          </a:p>
          <a:p>
            <a:r>
              <a:rPr lang="en-US">
                <a:solidFill>
                  <a:srgbClr val="FFFFFF"/>
                </a:solidFill>
              </a:rPr>
              <a:t>Process :</a:t>
            </a:r>
          </a:p>
          <a:p>
            <a:pPr lvl="1"/>
            <a:r>
              <a:rPr lang="en-US">
                <a:solidFill>
                  <a:srgbClr val="FFFFFF"/>
                </a:solidFill>
              </a:rPr>
              <a:t>Aggregation: Combine timestamps from Chat, Prefetch, File System, and Browser into one spreadsheet.</a:t>
            </a:r>
          </a:p>
          <a:p>
            <a:pPr lvl="1"/>
            <a:r>
              <a:rPr lang="en-US">
                <a:solidFill>
                  <a:srgbClr val="FFFFFF"/>
                </a:solidFill>
              </a:rPr>
              <a:t>Sorting: Chronological order to show cause-and-effect.</a:t>
            </a:r>
          </a:p>
          <a:p>
            <a:r>
              <a:rPr lang="en-US">
                <a:solidFill>
                  <a:srgbClr val="FFFFFF"/>
                </a:solidFill>
              </a:rPr>
              <a:t>Narrative</a:t>
            </a:r>
          </a:p>
          <a:p>
            <a:pPr lvl="1"/>
            <a:r>
              <a:rPr lang="en-US" i="1">
                <a:solidFill>
                  <a:srgbClr val="FFFFFF"/>
                </a:solidFill>
              </a:rPr>
              <a:t>Example Chain:</a:t>
            </a:r>
            <a:r>
              <a:rPr lang="en-US">
                <a:solidFill>
                  <a:srgbClr val="FFFFFF"/>
                </a:solidFill>
              </a:rPr>
              <a:t> App Launch -&gt; Video Created -&gt; Web Upload -&gt; Chat Confirmation.</a:t>
            </a:r>
          </a:p>
        </p:txBody>
      </p:sp>
    </p:spTree>
    <p:extLst>
      <p:ext uri="{BB962C8B-B14F-4D97-AF65-F5344CB8AC3E}">
        <p14:creationId xmlns:p14="http://schemas.microsoft.com/office/powerpoint/2010/main" val="169027432"/>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60757FA-8E5F-80BA-7A2A-5949AA05C92A}"/>
              </a:ext>
            </a:extLst>
          </p:cNvPr>
          <p:cNvPicPr>
            <a:picLocks noChangeAspect="1"/>
          </p:cNvPicPr>
          <p:nvPr/>
        </p:nvPicPr>
        <p:blipFill>
          <a:blip r:embed="rId3">
            <a:alphaModFix amt="35000"/>
          </a:blip>
          <a:srcRect t="30415" b="13335"/>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06864805-1EAF-448F-364E-89190B67EC10}"/>
              </a:ext>
            </a:extLst>
          </p:cNvPr>
          <p:cNvSpPr>
            <a:spLocks noGrp="1"/>
          </p:cNvSpPr>
          <p:nvPr>
            <p:ph type="title"/>
          </p:nvPr>
        </p:nvSpPr>
        <p:spPr>
          <a:xfrm>
            <a:off x="838200" y="365125"/>
            <a:ext cx="10515600" cy="1325563"/>
          </a:xfrm>
        </p:spPr>
        <p:txBody>
          <a:bodyPr>
            <a:normAutofit/>
          </a:bodyPr>
          <a:lstStyle/>
          <a:p>
            <a:r>
              <a:rPr lang="en-US">
                <a:solidFill>
                  <a:srgbClr val="FFFFFF"/>
                </a:solidFill>
              </a:rPr>
              <a:t>Milestone 5 - Reporting &amp; Conclusions</a:t>
            </a:r>
          </a:p>
        </p:txBody>
      </p:sp>
      <p:sp>
        <p:nvSpPr>
          <p:cNvPr id="3" name="Content Placeholder 2">
            <a:extLst>
              <a:ext uri="{FF2B5EF4-FFF2-40B4-BE49-F238E27FC236}">
                <a16:creationId xmlns:a16="http://schemas.microsoft.com/office/drawing/2014/main" id="{915C812F-4390-7870-71AF-3A5B7699BCA4}"/>
              </a:ext>
            </a:extLst>
          </p:cNvPr>
          <p:cNvSpPr>
            <a:spLocks noGrp="1"/>
          </p:cNvSpPr>
          <p:nvPr>
            <p:ph idx="1"/>
          </p:nvPr>
        </p:nvSpPr>
        <p:spPr>
          <a:xfrm>
            <a:off x="838200" y="1825625"/>
            <a:ext cx="10515600" cy="4351338"/>
          </a:xfrm>
        </p:spPr>
        <p:txBody>
          <a:bodyPr>
            <a:normAutofit/>
          </a:bodyPr>
          <a:lstStyle/>
          <a:p>
            <a:r>
              <a:rPr lang="en-US">
                <a:solidFill>
                  <a:srgbClr val="FFFFFF"/>
                </a:solidFill>
              </a:rPr>
              <a:t>User Story: Produce a professional legal conclusion.</a:t>
            </a:r>
          </a:p>
          <a:p>
            <a:r>
              <a:rPr lang="en-US">
                <a:solidFill>
                  <a:srgbClr val="FFFFFF"/>
                </a:solidFill>
              </a:rPr>
              <a:t>Findings:</a:t>
            </a:r>
          </a:p>
          <a:p>
            <a:pPr lvl="1"/>
            <a:r>
              <a:rPr lang="en-US">
                <a:solidFill>
                  <a:srgbClr val="FFFFFF"/>
                </a:solidFill>
              </a:rPr>
              <a:t>Drafting the "Findings" (Evidence Summary) and "Conclusion" (Guilt/Innocence statement).</a:t>
            </a:r>
          </a:p>
          <a:p>
            <a:r>
              <a:rPr lang="en-US">
                <a:solidFill>
                  <a:srgbClr val="FFFFFF"/>
                </a:solidFill>
              </a:rPr>
              <a:t>Final Polish:</a:t>
            </a:r>
          </a:p>
          <a:p>
            <a:pPr lvl="1"/>
            <a:r>
              <a:rPr lang="en-US">
                <a:solidFill>
                  <a:srgbClr val="FFFFFF"/>
                </a:solidFill>
              </a:rPr>
              <a:t>Formatting PDF, adding Table of Contents, and compiling Appendices (Screenshots, Logs, Chain of Custody).</a:t>
            </a:r>
          </a:p>
        </p:txBody>
      </p:sp>
    </p:spTree>
    <p:extLst>
      <p:ext uri="{BB962C8B-B14F-4D97-AF65-F5344CB8AC3E}">
        <p14:creationId xmlns:p14="http://schemas.microsoft.com/office/powerpoint/2010/main" val="1868672890"/>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5B0641-4387-43C2-FB00-A4CB1DEF78DE}"/>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069E4C22-B456-7C50-A599-96F4CEAAF995}"/>
              </a:ext>
            </a:extLst>
          </p:cNvPr>
          <p:cNvPicPr>
            <a:picLocks noChangeAspect="1"/>
          </p:cNvPicPr>
          <p:nvPr/>
        </p:nvPicPr>
        <p:blipFill>
          <a:blip r:embed="rId3">
            <a:alphaModFix amt="35000"/>
          </a:blip>
          <a:srcRect b="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C740FAA-C9F2-A4EB-C639-8ABAAF9A949D}"/>
              </a:ext>
            </a:extLst>
          </p:cNvPr>
          <p:cNvSpPr>
            <a:spLocks noGrp="1"/>
          </p:cNvSpPr>
          <p:nvPr>
            <p:ph type="title"/>
          </p:nvPr>
        </p:nvSpPr>
        <p:spPr>
          <a:xfrm>
            <a:off x="838200" y="365125"/>
            <a:ext cx="10515600" cy="1325563"/>
          </a:xfrm>
        </p:spPr>
        <p:txBody>
          <a:bodyPr>
            <a:normAutofit/>
          </a:bodyPr>
          <a:lstStyle/>
          <a:p>
            <a:r>
              <a:rPr lang="en-US">
                <a:solidFill>
                  <a:srgbClr val="FFFFFF"/>
                </a:solidFill>
              </a:rPr>
              <a:t>Project Status &amp; Q&amp;A</a:t>
            </a:r>
          </a:p>
        </p:txBody>
      </p:sp>
      <p:graphicFrame>
        <p:nvGraphicFramePr>
          <p:cNvPr id="5" name="Content Placeholder 2">
            <a:extLst>
              <a:ext uri="{FF2B5EF4-FFF2-40B4-BE49-F238E27FC236}">
                <a16:creationId xmlns:a16="http://schemas.microsoft.com/office/drawing/2014/main" id="{7582424E-2599-9E8B-4D25-B6D2EE03746F}"/>
              </a:ext>
            </a:extLst>
          </p:cNvPr>
          <p:cNvGraphicFramePr>
            <a:graphicFrameLocks noGrp="1"/>
          </p:cNvGraphicFramePr>
          <p:nvPr>
            <p:ph idx="1"/>
            <p:extLst>
              <p:ext uri="{D42A27DB-BD31-4B8C-83A1-F6EECF244321}">
                <p14:modId xmlns:p14="http://schemas.microsoft.com/office/powerpoint/2010/main" val="29932263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29289658"/>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TotalTime>
  <Words>1678</Words>
  <Application>Microsoft Office PowerPoint</Application>
  <PresentationFormat>Widescreen</PresentationFormat>
  <Paragraphs>124</Paragraphs>
  <Slides>12</Slides>
  <Notes>12</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12</vt:i4>
      </vt:variant>
    </vt:vector>
  </HeadingPairs>
  <TitlesOfParts>
    <vt:vector size="16" baseType="lpstr">
      <vt:lpstr>Aptos</vt:lpstr>
      <vt:lpstr>Aptos Display</vt:lpstr>
      <vt:lpstr>Arial</vt:lpstr>
      <vt:lpstr>Office Theme</vt:lpstr>
      <vt:lpstr>Digital Forensics Investigation: State v. John Smith</vt:lpstr>
      <vt:lpstr>Case Overview &amp; Objective</vt:lpstr>
      <vt:lpstr>Investigation Roadmap</vt:lpstr>
      <vt:lpstr>Milestone 1 - Discord Analysis</vt:lpstr>
      <vt:lpstr>Milestone 1 - Steam Chat Logs</vt:lpstr>
      <vt:lpstr>Milestone 2 - Video Recovery (File Carving)</vt:lpstr>
      <vt:lpstr>Milestone 2 - Proving Authorship</vt:lpstr>
      <vt:lpstr>Milestone 3 - Browser Forensics</vt:lpstr>
      <vt:lpstr>Milestone 4 - USB Device History</vt:lpstr>
      <vt:lpstr>Milestone 5 - Timeline Reconstruction</vt:lpstr>
      <vt:lpstr>Milestone 5 - Reporting &amp; Conclusions</vt:lpstr>
      <vt:lpstr>Project Status &amp; 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Oliveira</dc:creator>
  <cp:lastModifiedBy>Luis Oliveira</cp:lastModifiedBy>
  <cp:revision>3</cp:revision>
  <dcterms:created xsi:type="dcterms:W3CDTF">2025-12-10T21:53:05Z</dcterms:created>
  <dcterms:modified xsi:type="dcterms:W3CDTF">2025-12-11T03:12:11Z</dcterms:modified>
</cp:coreProperties>
</file>